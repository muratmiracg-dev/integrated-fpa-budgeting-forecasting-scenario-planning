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8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9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8a72d79f4749d3" /><Relationship Type="http://schemas.openxmlformats.org/officeDocument/2006/relationships/extended-properties" Target="/docProps/app.xml" Id="R5248185d2be84890" /><Relationship Type="http://schemas.openxmlformats.org/officeDocument/2006/relationships/officeDocument" Target="/ppt/presentation.xml" Id="Rf7587302a2c145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bf429301b74202"/>
  </p:sldMasterIdLst>
  <p:notesMasterIdLst>
    <p:notesMasterId xmlns:r="http://schemas.openxmlformats.org/officeDocument/2006/relationships" r:id="Rc8f84cbe09af4e1c"/>
  </p:notesMasterIdLst>
  <p:sldIdLst>
    <p:sldId xmlns:r="http://schemas.openxmlformats.org/officeDocument/2006/relationships" id="256" r:id="R956e61d6decd4f7a"/>
    <p:sldId xmlns:r="http://schemas.openxmlformats.org/officeDocument/2006/relationships" id="257" r:id="Rc813b765cbcb4539"/>
    <p:sldId xmlns:r="http://schemas.openxmlformats.org/officeDocument/2006/relationships" id="258" r:id="Rfdfeb8d4c060450d"/>
    <p:sldId xmlns:r="http://schemas.openxmlformats.org/officeDocument/2006/relationships" id="259" r:id="Rb1499b2e477e4b32"/>
    <p:sldId xmlns:r="http://schemas.openxmlformats.org/officeDocument/2006/relationships" id="260" r:id="Rb2ef606bd6694e20"/>
    <p:sldId xmlns:r="http://schemas.openxmlformats.org/officeDocument/2006/relationships" id="261" r:id="Rdf7f258bedfd4679"/>
    <p:sldId xmlns:r="http://schemas.openxmlformats.org/officeDocument/2006/relationships" id="262" r:id="R1760085292b844e3"/>
    <p:sldId xmlns:r="http://schemas.openxmlformats.org/officeDocument/2006/relationships" id="263" r:id="Rc28f77f0dfe5418d"/>
    <p:sldId xmlns:r="http://schemas.openxmlformats.org/officeDocument/2006/relationships" id="264" r:id="R95f2f032e7fb4a06"/>
    <p:sldId xmlns:r="http://schemas.openxmlformats.org/officeDocument/2006/relationships" id="265" r:id="Rac674c405207421f"/>
    <p:sldId xmlns:r="http://schemas.openxmlformats.org/officeDocument/2006/relationships" id="266" r:id="R4ac5f9a31bb94785"/>
    <p:sldId xmlns:r="http://schemas.openxmlformats.org/officeDocument/2006/relationships" id="267" r:id="Rbc025eeba72c4cc2"/>
    <p:sldId xmlns:r="http://schemas.openxmlformats.org/officeDocument/2006/relationships" id="268" r:id="R2e16b1860ee44b67"/>
    <p:sldId xmlns:r="http://schemas.openxmlformats.org/officeDocument/2006/relationships" id="269" r:id="R94171aa82ed945c2"/>
    <p:sldId xmlns:r="http://schemas.openxmlformats.org/officeDocument/2006/relationships" id="270" r:id="R12ad0b644c444036"/>
    <p:sldId xmlns:r="http://schemas.openxmlformats.org/officeDocument/2006/relationships" id="271" r:id="R449762bd12294fb8"/>
    <p:sldId xmlns:r="http://schemas.openxmlformats.org/officeDocument/2006/relationships" id="272" r:id="Rb81ce92d988e4c8c"/>
    <p:sldId xmlns:r="http://schemas.openxmlformats.org/officeDocument/2006/relationships" id="273" r:id="R166487d3cda247de"/>
    <p:sldId xmlns:r="http://schemas.openxmlformats.org/officeDocument/2006/relationships" id="274" r:id="R85bd934532b34665"/>
    <p:sldId xmlns:r="http://schemas.openxmlformats.org/officeDocument/2006/relationships" id="275" r:id="R9afa317ba84343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8eadf13e7f4dba" /><Relationship Type="http://schemas.openxmlformats.org/officeDocument/2006/relationships/slideMaster" Target="/ppt/slideMasters/slideMaster1.xml" Id="R73bf429301b74202" /><Relationship Type="http://schemas.openxmlformats.org/officeDocument/2006/relationships/notesMaster" Target="/ppt/notesMasters/notesMaster1.xml" Id="Rc8f84cbe09af4e1c" /><Relationship Type="http://schemas.openxmlformats.org/officeDocument/2006/relationships/presProps" Target="/ppt/presProps.xml" Id="R4bbb3bd5fbbf45e3" /><Relationship Type="http://schemas.openxmlformats.org/officeDocument/2006/relationships/tableStyles" Target="/ppt/tableStyles.xml" Id="R3fc768b334804df1" /><Relationship Type="http://schemas.openxmlformats.org/officeDocument/2006/relationships/slide" Target="/ppt/slides/slide1.xml" Id="R956e61d6decd4f7a" /><Relationship Type="http://schemas.openxmlformats.org/officeDocument/2006/relationships/slide" Target="/ppt/slides/slide2.xml" Id="Rc813b765cbcb4539" /><Relationship Type="http://schemas.openxmlformats.org/officeDocument/2006/relationships/slide" Target="/ppt/slides/slide3.xml" Id="Rfdfeb8d4c060450d" /><Relationship Type="http://schemas.openxmlformats.org/officeDocument/2006/relationships/slide" Target="/ppt/slides/slide4.xml" Id="Rb1499b2e477e4b32" /><Relationship Type="http://schemas.openxmlformats.org/officeDocument/2006/relationships/slide" Target="/ppt/slides/slide5.xml" Id="Rb2ef606bd6694e20" /><Relationship Type="http://schemas.openxmlformats.org/officeDocument/2006/relationships/slide" Target="/ppt/slides/slide6.xml" Id="Rdf7f258bedfd4679" /><Relationship Type="http://schemas.openxmlformats.org/officeDocument/2006/relationships/slide" Target="/ppt/slides/slide7.xml" Id="R1760085292b844e3" /><Relationship Type="http://schemas.openxmlformats.org/officeDocument/2006/relationships/slide" Target="/ppt/slides/slide8.xml" Id="Rc28f77f0dfe5418d" /><Relationship Type="http://schemas.openxmlformats.org/officeDocument/2006/relationships/slide" Target="/ppt/slides/slide9.xml" Id="R95f2f032e7fb4a06" /><Relationship Type="http://schemas.openxmlformats.org/officeDocument/2006/relationships/slide" Target="/ppt/slides/slide10.xml" Id="Rac674c405207421f" /><Relationship Type="http://schemas.openxmlformats.org/officeDocument/2006/relationships/slide" Target="/ppt/slides/slide11.xml" Id="R4ac5f9a31bb94785" /><Relationship Type="http://schemas.openxmlformats.org/officeDocument/2006/relationships/slide" Target="/ppt/slides/slide12.xml" Id="Rbc025eeba72c4cc2" /><Relationship Type="http://schemas.openxmlformats.org/officeDocument/2006/relationships/slide" Target="/ppt/slides/slide13.xml" Id="R2e16b1860ee44b67" /><Relationship Type="http://schemas.openxmlformats.org/officeDocument/2006/relationships/slide" Target="/ppt/slides/slide14.xml" Id="R94171aa82ed945c2" /><Relationship Type="http://schemas.openxmlformats.org/officeDocument/2006/relationships/slide" Target="/ppt/slides/slide15.xml" Id="R12ad0b644c444036" /><Relationship Type="http://schemas.openxmlformats.org/officeDocument/2006/relationships/slide" Target="/ppt/slides/slide16.xml" Id="R449762bd12294fb8" /><Relationship Type="http://schemas.openxmlformats.org/officeDocument/2006/relationships/slide" Target="/ppt/slides/slide17.xml" Id="Rb81ce92d988e4c8c" /><Relationship Type="http://schemas.openxmlformats.org/officeDocument/2006/relationships/slide" Target="/ppt/slides/slide18.xml" Id="R166487d3cda247de" /><Relationship Type="http://schemas.openxmlformats.org/officeDocument/2006/relationships/slide" Target="/ppt/slides/slide19.xml" Id="R85bd934532b34665" /><Relationship Type="http://schemas.openxmlformats.org/officeDocument/2006/relationships/slide" Target="/ppt/slides/slide20.xml" Id="R9afa317ba843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6f90cb9c344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914e1c5fa4b80" /><Relationship Type="http://schemas.openxmlformats.org/officeDocument/2006/relationships/notesMaster" Target="/ppt/notesMasters/notesMaster1.xml" Id="R7b29562a758f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b59ee480c4354" /><Relationship Type="http://schemas.openxmlformats.org/officeDocument/2006/relationships/notesMaster" Target="/ppt/notesMasters/notesMaster1.xml" Id="R7487751a47e547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7a7f06d6694ebf" /><Relationship Type="http://schemas.openxmlformats.org/officeDocument/2006/relationships/notesMaster" Target="/ppt/notesMasters/notesMaster1.xml" Id="R712092078d3f43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e72a51fccf463c" /><Relationship Type="http://schemas.openxmlformats.org/officeDocument/2006/relationships/notesMaster" Target="/ppt/notesMasters/notesMaster1.xml" Id="Re8f29a7fbe1f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2d33c69814e18" /><Relationship Type="http://schemas.openxmlformats.org/officeDocument/2006/relationships/notesMaster" Target="/ppt/notesMasters/notesMaster1.xml" Id="R4230091286d445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ee39d685114b3d" /><Relationship Type="http://schemas.openxmlformats.org/officeDocument/2006/relationships/notesMaster" Target="/ppt/notesMasters/notesMaster1.xml" Id="R07dba339755142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1edfdc155b479b" /><Relationship Type="http://schemas.openxmlformats.org/officeDocument/2006/relationships/notesMaster" Target="/ppt/notesMasters/notesMaster1.xml" Id="Re9955839f0e24b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76eac2c734312" /><Relationship Type="http://schemas.openxmlformats.org/officeDocument/2006/relationships/notesMaster" Target="/ppt/notesMasters/notesMaster1.xml" Id="R2117026dfac24d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91c82429ae41c2" /><Relationship Type="http://schemas.openxmlformats.org/officeDocument/2006/relationships/notesMaster" Target="/ppt/notesMasters/notesMaster1.xml" Id="R38fafcea21f445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33e5d005d54a5a" /><Relationship Type="http://schemas.openxmlformats.org/officeDocument/2006/relationships/notesMaster" Target="/ppt/notesMasters/notesMaster1.xml" Id="R777c10ba81bf4e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79953efe964868" /><Relationship Type="http://schemas.openxmlformats.org/officeDocument/2006/relationships/notesMaster" Target="/ppt/notesMasters/notesMaster1.xml" Id="R8e1a2c0ddc5245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37a77b167944dd" /><Relationship Type="http://schemas.openxmlformats.org/officeDocument/2006/relationships/notesMaster" Target="/ppt/notesMasters/notesMaster1.xml" Id="R4d41dad28d4340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cbc2b29a2148a3" /><Relationship Type="http://schemas.openxmlformats.org/officeDocument/2006/relationships/notesMaster" Target="/ppt/notesMasters/notesMaster1.xml" Id="Rdd9797586b194f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b116d05b8d49fb" /><Relationship Type="http://schemas.openxmlformats.org/officeDocument/2006/relationships/notesMaster" Target="/ppt/notesMasters/notesMaster1.xml" Id="Rb4768631db924f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931d677d964fd1" /><Relationship Type="http://schemas.openxmlformats.org/officeDocument/2006/relationships/notesMaster" Target="/ppt/notesMasters/notesMaster1.xml" Id="R73b468e42d9048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65189dd09c4914" /><Relationship Type="http://schemas.openxmlformats.org/officeDocument/2006/relationships/notesMaster" Target="/ppt/notesMasters/notesMaster1.xml" Id="R18799d8ce1cf49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fc32ac0f1b4548" /><Relationship Type="http://schemas.openxmlformats.org/officeDocument/2006/relationships/notesMaster" Target="/ppt/notesMasters/notesMaster1.xml" Id="Rf114ff46455c4a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d2d73d4e464bcf" /><Relationship Type="http://schemas.openxmlformats.org/officeDocument/2006/relationships/notesMaster" Target="/ppt/notesMasters/notesMaster1.xml" Id="R307e7d9362554c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e596ad453b41aa" /><Relationship Type="http://schemas.openxmlformats.org/officeDocument/2006/relationships/notesMaster" Target="/ppt/notesMasters/notesMaster1.xml" Id="R6ec4e94ad5724f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5b5d07019a4e9e" /><Relationship Type="http://schemas.openxmlformats.org/officeDocument/2006/relationships/notesMaster" Target="/ppt/notesMasters/notesMaster1.xml" Id="R276aa47dfe55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Data/project_metadata.csv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Data/annual_pnl.csv</a:t>
            </a:r>
          </a:p>
          <a:p xmlns:a="http://schemas.openxmlformats.org/drawingml/2006/main">
            <a:r>
              <a:t>- Internal synthetic project source: Data/cash_flow_summary.csv</a:t>
            </a:r>
          </a:p>
          <a:p xmlns:a="http://schemas.openxmlformats.org/drawingml/2006/main">
            <a:r>
              <a:t>- Internal synthetic project source: Data/forecast_model_comparison.csv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Docs/executive_summary.md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Data/project_metadata.csv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Data/fact_actuals.csv</a:t>
            </a:r>
          </a:p>
          <a:p xmlns:a="http://schemas.openxmlformats.org/drawingml/2006/main">
            <a:r>
              <a:t>- Internal synthetic project source: Data/fact_budget.csv</a:t>
            </a:r>
          </a:p>
          <a:p xmlns:a="http://schemas.openxmlformats.org/drawingml/2006/main">
            <a:r>
              <a:t>- Internal synthetic project source: Data/fact_forecast.csv</a:t>
            </a:r>
          </a:p>
          <a:p xmlns:a="http://schemas.openxmlformats.org/drawingml/2006/main">
            <a:r>
              <a:t>- Internal synthetic project source: Data/fact_scenario.csv</a:t>
            </a:r>
          </a:p>
          <a:p xmlns:a="http://schemas.openxmlformats.org/drawingml/2006/main">
            <a:r>
              <a:t>- Internal synthetic project source: Data/monte_carlo_simulations.csv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Python/src/fpa_system/run_pipeline.py</a:t>
            </a:r>
          </a:p>
          <a:p xmlns:a="http://schemas.openxmlformats.org/drawingml/2006/main">
            <a:r>
              <a:t>- Internal synthetic project source: SQL/schema.sql</a:t>
            </a:r>
          </a:p>
          <a:p xmlns:a="http://schemas.openxmlformats.org/drawingml/2006/main">
            <a:r>
              <a:t>- Internal synthetic project source: PowerBI/Integrated_FPA_PBIP</a:t>
            </a:r>
          </a:p>
          <a:p xmlns:a="http://schemas.openxmlformats.org/drawingml/2006/main">
            <a:r>
              <a:t>- Internal synthetic project source: Excel/Integrated_FP&amp;A_Budgeting_Forecasting_Scenario_Planning_Model.xlsx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PowerBI/Integrated_FPA_Measures.dax</a:t>
            </a:r>
          </a:p>
          <a:p xmlns:a="http://schemas.openxmlformats.org/drawingml/2006/main">
            <a:r>
              <a:t>- Internal synthetic project source: Data/validation_report.json</a:t>
            </a:r>
          </a:p>
          <a:p xmlns:a="http://schemas.openxmlformats.org/drawingml/2006/main">
            <a:r>
              <a:t>- Internal synthetic project source: Python/tests/test_financial_controls.py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Data/annual_pnl.csv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Data/business_unit_performance.csv</a:t>
            </a:r>
          </a:p>
          <a:p xmlns:a="http://schemas.openxmlformats.org/drawingml/2006/main">
            <a:r>
              <a:t>- Internal synthetic project source: Data/fact_operational_drivers.csv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Data/annual_pnl.csv</a:t>
            </a:r>
          </a:p>
          <a:p xmlns:a="http://schemas.openxmlformats.org/drawingml/2006/main">
            <a:r>
              <a:t>- Internal synthetic project source: Data/department_performance.csv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Data/variance_analysis.csv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Data/variance_analysis.csv</a:t>
            </a:r>
          </a:p>
          <a:p xmlns:a="http://schemas.openxmlformats.org/drawingml/2006/main">
            <a:r>
              <a:t>- Internal synthetic project source: Data/forecast_bridge.csv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Data/monthly_kpi_dashboard.csv</a:t>
            </a:r>
          </a:p>
          <a:p xmlns:a="http://schemas.openxmlformats.org/drawingml/2006/main">
            <a:r>
              <a:t>- Internal synthetic project source: Data/fact_forecast.csv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Data/forecast_model_comparison.csv</a:t>
            </a:r>
          </a:p>
          <a:p xmlns:a="http://schemas.openxmlformats.org/drawingml/2006/main">
            <a:r>
              <a:t>- Internal synthetic project source: Data/forecast_backtest.csv</a:t>
            </a:r>
          </a:p>
          <a:p xmlns:a="http://schemas.openxmlformats.org/drawingml/2006/main">
            <a:r>
              <a:t>- Internal synthetic project source: Docs/forecast-model-governance.md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Data/cash_flow_summary.csv</a:t>
            </a:r>
          </a:p>
          <a:p xmlns:a="http://schemas.openxmlformats.org/drawingml/2006/main">
            <a:r>
              <a:t>- Internal synthetic project source: Data/fact_cash_flow.csv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Data/fact_working_capital.csv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Data/headcount_summary.csv</a:t>
            </a:r>
          </a:p>
          <a:p xmlns:a="http://schemas.openxmlformats.org/drawingml/2006/main">
            <a:r>
              <a:t>- Internal synthetic project source: Data/capex_summary.csv</a:t>
            </a:r>
          </a:p>
          <a:p xmlns:a="http://schemas.openxmlformats.org/drawingml/2006/main">
            <a:r>
              <a:t>- Internal synthetic project source: Data/department_performance.csv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- Internal synthetic project source: Data/scenario_monthly_pnl.csv</a:t>
            </a:r>
          </a:p>
          <a:p xmlns:a="http://schemas.openxmlformats.org/drawingml/2006/main">
            <a:r>
              <a:t>- Internal synthetic project source: Data/scenario_cash_flow.csv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Data/risk_summary.csv</a:t>
            </a:r>
          </a:p>
          <a:p xmlns:a="http://schemas.openxmlformats.org/drawingml/2006/main">
            <a:r>
              <a:t>- Internal synthetic project source: Data/monte_carlo_simulations.csv</a:t>
            </a:r>
          </a:p>
          <a:p xmlns:a="http://schemas.openxmlformats.org/drawingml/2006/main">
            <a:r>
              <a:t>- Internal synthetic project source: Data/management_insights.csv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2a37c26f845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4805453df4e89" /><Relationship Type="http://schemas.openxmlformats.org/officeDocument/2006/relationships/slideLayout" Target="/ppt/slideLayouts/slideLayout1.xml" Id="R590dc9e7d9d2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dc9e7d9d2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f0a6a6dc840c9" /><Relationship Type="http://schemas.openxmlformats.org/officeDocument/2006/relationships/notesSlide" Target="/ppt/notesSlides/notesSlide1.xml" Id="R2056fa102b6c41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37446300648bb" /><Relationship Type="http://schemas.openxmlformats.org/officeDocument/2006/relationships/notesSlide" Target="/ppt/notesSlides/notesSlide2.xml" Id="R23878539378a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32e37d0d14928" /><Relationship Type="http://schemas.openxmlformats.org/officeDocument/2006/relationships/notesSlide" Target="/ppt/notesSlides/notesSlide3.xml" Id="R81dc16d8ca5443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9d63b310048f1" /><Relationship Type="http://schemas.openxmlformats.org/officeDocument/2006/relationships/notesSlide" Target="/ppt/notesSlides/notesSlide4.xml" Id="R0b79865dd8dd4b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c40836bee4eea" /><Relationship Type="http://schemas.openxmlformats.org/officeDocument/2006/relationships/notesSlide" Target="/ppt/notesSlides/notesSlide5.xml" Id="Rd9080b9036e64e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11ba816f54c35" /><Relationship Type="http://schemas.openxmlformats.org/officeDocument/2006/relationships/notesSlide" Target="/ppt/notesSlides/notesSlide6.xml" Id="R413e9fdfaf2b4a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ccd032346491a" /><Relationship Type="http://schemas.openxmlformats.org/officeDocument/2006/relationships/notesSlide" Target="/ppt/notesSlides/notesSlide7.xml" Id="R7a87c7d295fd45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3fa3bceb04ae1" /><Relationship Type="http://schemas.openxmlformats.org/officeDocument/2006/relationships/chart" Target="/ppt/slides/charts/chart1.xml" Id="R7988a0125a554c14" /><Relationship Type="http://schemas.openxmlformats.org/officeDocument/2006/relationships/notesSlide" Target="/ppt/notesSlides/notesSlide8.xml" Id="R28362772c19c49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512f5c895460d" /><Relationship Type="http://schemas.openxmlformats.org/officeDocument/2006/relationships/chart" Target="/ppt/slides/charts/chart2.xml" Id="R30180ab1ae254419" /><Relationship Type="http://schemas.openxmlformats.org/officeDocument/2006/relationships/notesSlide" Target="/ppt/notesSlides/notesSlide9.xml" Id="R6d092273cefc4e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14f965b814db5" /><Relationship Type="http://schemas.openxmlformats.org/officeDocument/2006/relationships/chart" Target="/ppt/slides/charts/chart3.xml" Id="Rfb85000fb2144170" /><Relationship Type="http://schemas.openxmlformats.org/officeDocument/2006/relationships/notesSlide" Target="/ppt/notesSlides/notesSlide10.xml" Id="Raaea5428f4ad49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226cfe6c74005" /><Relationship Type="http://schemas.openxmlformats.org/officeDocument/2006/relationships/chart" Target="/ppt/slides/charts/chart4.xml" Id="R84d8ded1da134d5d" /><Relationship Type="http://schemas.openxmlformats.org/officeDocument/2006/relationships/notesSlide" Target="/ppt/notesSlides/notesSlide11.xml" Id="R467d01d6ca2f42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b74e0903f499c" /><Relationship Type="http://schemas.openxmlformats.org/officeDocument/2006/relationships/notesSlide" Target="/ppt/notesSlides/notesSlide12.xml" Id="Rfe3192a177bc4b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364b898ec409b" /><Relationship Type="http://schemas.openxmlformats.org/officeDocument/2006/relationships/chart" Target="/ppt/slides/charts/chart5.xml" Id="R5bb2fe9973c944f9" /><Relationship Type="http://schemas.openxmlformats.org/officeDocument/2006/relationships/notesSlide" Target="/ppt/notesSlides/notesSlide13.xml" Id="R2721cfdb65e44d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f0b5859a448bb" /><Relationship Type="http://schemas.openxmlformats.org/officeDocument/2006/relationships/notesSlide" Target="/ppt/notesSlides/notesSlide14.xml" Id="R2dc58439999f45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76592cf47473e" /><Relationship Type="http://schemas.openxmlformats.org/officeDocument/2006/relationships/chart" Target="/ppt/slides/charts/chart6.xml" Id="R8004918251ba4561" /><Relationship Type="http://schemas.openxmlformats.org/officeDocument/2006/relationships/notesSlide" Target="/ppt/notesSlides/notesSlide15.xml" Id="R4e0cef1e77754c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2af675a0045a4" /><Relationship Type="http://schemas.openxmlformats.org/officeDocument/2006/relationships/chart" Target="/ppt/slides/charts/chart7.xml" Id="R0ed7f35ecc804129" /><Relationship Type="http://schemas.openxmlformats.org/officeDocument/2006/relationships/notesSlide" Target="/ppt/notesSlides/notesSlide16.xml" Id="R946fe75f228445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29c52a2814544" /><Relationship Type="http://schemas.openxmlformats.org/officeDocument/2006/relationships/chart" Target="/ppt/slides/charts/chart8.xml" Id="R17aa43ca8b6f42dd" /><Relationship Type="http://schemas.openxmlformats.org/officeDocument/2006/relationships/notesSlide" Target="/ppt/notesSlides/notesSlide17.xml" Id="R98240fe7675846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2a4d1d060409b" /><Relationship Type="http://schemas.openxmlformats.org/officeDocument/2006/relationships/chart" Target="/ppt/slides/charts/chart9.xml" Id="R4e0db95f26c74315" /><Relationship Type="http://schemas.openxmlformats.org/officeDocument/2006/relationships/notesSlide" Target="/ppt/notesSlides/notesSlide18.xml" Id="R65076866eff04b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d3da8e08d49e7" /><Relationship Type="http://schemas.openxmlformats.org/officeDocument/2006/relationships/notesSlide" Target="/ppt/notesSlides/notesSlide19.xml" Id="R68f5a1c990a140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87366499545e6" /><Relationship Type="http://schemas.openxmlformats.org/officeDocument/2006/relationships/notesSlide" Target="/ppt/notesSlides/notesSlide20.xml" Id="R7193bb6b2d95413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Revenue (TRY M)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4"/>
          </c:marker>
          <c:cat>
            <c:numLit>
              <c:formatCode>General</c:formatCode>
              <c:ptCount val="4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</c:numLit>
          </c:cat>
          <c:val>
            <c:numLit>
              <c:formatCode>0</c:formatCode>
              <c:ptCount val="4"/>
              <c:pt idx="0">
                <c:v>1255.27021627</c:v>
              </c:pt>
              <c:pt idx="1">
                <c:v>1414.6112958499998</c:v>
              </c:pt>
              <c:pt idx="2">
                <c:v>1611.0232288299999</c:v>
              </c:pt>
              <c:pt idx="3">
                <c:v>1790.8121778</c:v>
              </c:pt>
            </c:numLit>
          </c:val>
        </c:ser>
        <c:ser>
          <c:idx val="1"/>
          <c:order val="1"/>
          <c:tx>
            <c:v>EBITDA (₺M)</c:v>
          </c:tx>
          <c:spPr>
            <a:ln xmlns:a="http://schemas.openxmlformats.org/drawingml/2006/main" w="28575">
              <a:solidFill>
                <a:srgbClr val="16A34A"/>
              </a:solidFill>
              <a:prstDash val="solid"/>
            </a:ln>
          </c:spPr>
          <c:marker>
            <c:symbol val="circle"/>
            <c:size val="4"/>
          </c:marker>
          <c:cat>
            <c:numLit>
              <c:formatCode>General</c:formatCode>
              <c:ptCount val="4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</c:v>
              </c:pt>
            </c:numLit>
          </c:cat>
          <c:val>
            <c:numLit>
              <c:formatCode>0</c:formatCode>
              <c:ptCount val="4"/>
              <c:pt idx="0">
                <c:v>119.16142068</c:v>
              </c:pt>
              <c:pt idx="1">
                <c:v>122.88672986000002</c:v>
              </c:pt>
              <c:pt idx="2">
                <c:v>142.34295502999998</c:v>
              </c:pt>
              <c:pt idx="3">
                <c:v>164.38105140000005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FY2026 Revenue (TRY M)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Digital Commerce</c:v>
              </c:pt>
              <c:pt idx="1">
                <c:v>Retail Stores</c:v>
              </c:pt>
              <c:pt idx="2">
                <c:v>Wholesale</c:v>
              </c:pt>
              <c:pt idx="3">
                <c:v>Subscription Services</c:v>
              </c:pt>
              <c:pt idx="4">
                <c:v>Shared Services</c:v>
              </c:pt>
            </c:strLit>
          </c:cat>
          <c:val>
            <c:numLit>
              <c:formatCode>0</c:formatCode>
              <c:ptCount val="5"/>
              <c:pt idx="0">
                <c:v>788.3414931200001</c:v>
              </c:pt>
              <c:pt idx="1">
                <c:v>461.13945636999995</c:v>
              </c:pt>
              <c:pt idx="2">
                <c:v>435.79595927</c:v>
              </c:pt>
              <c:pt idx="3">
                <c:v>105.53526903999999</c:v>
              </c:pt>
              <c:pt idx="4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FY2026 Forecast (TRY M)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5"/>
              <c:pt idx="0">
                <c:v>COGS</c:v>
              </c:pt>
              <c:pt idx="1">
                <c:v>Operating Expense</c:v>
              </c:pt>
              <c:pt idx="2">
                <c:v>Depreciation</c:v>
              </c:pt>
              <c:pt idx="3">
                <c:v>Interest</c:v>
              </c:pt>
              <c:pt idx="4">
                <c:v>Tax</c:v>
              </c:pt>
            </c:strLit>
          </c:cat>
          <c:val>
            <c:numLit>
              <c:formatCode>0</c:formatCode>
              <c:ptCount val="5"/>
              <c:pt idx="0">
                <c:v>885.89735252</c:v>
              </c:pt>
              <c:pt idx="1">
                <c:v>740.53377388</c:v>
              </c:pt>
              <c:pt idx="2">
                <c:v>15.506250079999997</c:v>
              </c:pt>
              <c:pt idx="3">
                <c:v>5.71957344</c:v>
              </c:pt>
              <c:pt idx="4">
                <c:v>35.788806990000005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Actual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Revenue</c:v>
              </c:pt>
              <c:pt idx="1">
                <c:v>Gross Profit</c:v>
              </c:pt>
              <c:pt idx="2">
                <c:v>Operating Expense</c:v>
              </c:pt>
              <c:pt idx="3">
                <c:v>EBITDA</c:v>
              </c:pt>
              <c:pt idx="4">
                <c:v>Net Income</c:v>
              </c:pt>
            </c:strLit>
          </c:cat>
          <c:val>
            <c:numLit>
              <c:formatCode>0</c:formatCode>
              <c:ptCount val="5"/>
              <c:pt idx="0">
                <c:v>835.95805073</c:v>
              </c:pt>
              <c:pt idx="1">
                <c:v>420.24212748</c:v>
              </c:pt>
              <c:pt idx="2">
                <c:v>363.20367585</c:v>
              </c:pt>
              <c:pt idx="3">
                <c:v>57.038451630000004</c:v>
              </c:pt>
              <c:pt idx="4">
                <c:v>35.14281844</c:v>
              </c:pt>
            </c:numLit>
          </c:val>
        </c:ser>
        <c:ser>
          <c:idx val="1"/>
          <c:order val="1"/>
          <c:tx>
            <c:v>Budget</c:v>
          </c:tx>
          <c:spPr>
            <a:solidFill xmlns:a="http://schemas.openxmlformats.org/drawingml/2006/main">
              <a:srgbClr val="D8E0EA"/>
            </a:solidFill>
          </c:spPr>
          <c:cat>
            <c:strLit>
              <c:ptCount val="5"/>
              <c:pt idx="0">
                <c:v>Revenue</c:v>
              </c:pt>
              <c:pt idx="1">
                <c:v>Gross Profit</c:v>
              </c:pt>
              <c:pt idx="2">
                <c:v>Operating Expense</c:v>
              </c:pt>
              <c:pt idx="3">
                <c:v>EBITDA</c:v>
              </c:pt>
              <c:pt idx="4">
                <c:v>Net Income</c:v>
              </c:pt>
            </c:strLit>
          </c:cat>
          <c:val>
            <c:numLit>
              <c:formatCode>0</c:formatCode>
              <c:ptCount val="5"/>
              <c:pt idx="0">
                <c:v>849.20110258</c:v>
              </c:pt>
              <c:pt idx="1">
                <c:v>433.60233167</c:v>
              </c:pt>
              <c:pt idx="2">
                <c:v>381.70543249</c:v>
              </c:pt>
              <c:pt idx="3">
                <c:v>51.89689918</c:v>
              </c:pt>
              <c:pt idx="4">
                <c:v>31.45276455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Rolling Forecast (TRY M)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124.15170402</c:v>
              </c:pt>
              <c:pt idx="1">
                <c:v>127.34601756</c:v>
              </c:pt>
              <c:pt idx="2">
                <c:v>140.67192072999998</c:v>
              </c:pt>
              <c:pt idx="3">
                <c:v>146.83694599</c:v>
              </c:pt>
              <c:pt idx="4">
                <c:v>147.50381466</c:v>
              </c:pt>
              <c:pt idx="5">
                <c:v>149.44764777</c:v>
              </c:pt>
              <c:pt idx="6">
                <c:v>145.25930169999998</c:v>
              </c:pt>
              <c:pt idx="7">
                <c:v>141.41465324</c:v>
              </c:pt>
              <c:pt idx="8">
                <c:v>156.14103014</c:v>
              </c:pt>
              <c:pt idx="9">
                <c:v>162.19569739000002</c:v>
              </c:pt>
              <c:pt idx="10">
                <c:v>169.69751737</c:v>
              </c:pt>
              <c:pt idx="11">
                <c:v>180.14592722999998</c:v>
              </c:pt>
            </c:numLit>
          </c:val>
        </c:ser>
        <c:ser>
          <c:idx val="1"/>
          <c:order val="1"/>
          <c:tx>
            <c:v>Budget (TRY M)</c:v>
          </c:tx>
          <c:spPr>
            <a:ln xmlns:a="http://schemas.openxmlformats.org/drawingml/2006/main" w="28575">
              <a:solidFill>
                <a:srgbClr val="D97706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123.35455284999999</c:v>
              </c:pt>
              <c:pt idx="1">
                <c:v>128.01089502</c:v>
              </c:pt>
              <c:pt idx="2">
                <c:v>145.50506318</c:v>
              </c:pt>
              <c:pt idx="3">
                <c:v>147.99680145</c:v>
              </c:pt>
              <c:pt idx="4">
                <c:v>150.11665496</c:v>
              </c:pt>
              <c:pt idx="5">
                <c:v>154.21713512</c:v>
              </c:pt>
              <c:pt idx="6">
                <c:v>145.97480799000002</c:v>
              </c:pt>
              <c:pt idx="7">
                <c:v>141.03261813999998</c:v>
              </c:pt>
              <c:pt idx="8">
                <c:v>160.77074397</c:v>
              </c:pt>
              <c:pt idx="9">
                <c:v>169.32750542</c:v>
              </c:pt>
              <c:pt idx="10">
                <c:v>179.39495583000001</c:v>
              </c:pt>
              <c:pt idx="11">
                <c:v>193.14499124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Forecast Ending Cash (TRY M)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248.47962308</c:v>
              </c:pt>
              <c:pt idx="1">
                <c:v>229.41647435</c:v>
              </c:pt>
              <c:pt idx="2">
                <c:v>233.08117614</c:v>
              </c:pt>
              <c:pt idx="3">
                <c:v>225.45752531</c:v>
              </c:pt>
              <c:pt idx="4">
                <c:v>236.41837757</c:v>
              </c:pt>
              <c:pt idx="5">
                <c:v>232.83276668000002</c:v>
              </c:pt>
              <c:pt idx="6">
                <c:v>249.28433859999998</c:v>
              </c:pt>
              <c:pt idx="7">
                <c:v>256.74082131</c:v>
              </c:pt>
              <c:pt idx="8">
                <c:v>238.15181138</c:v>
              </c:pt>
              <c:pt idx="9">
                <c:v>227.18670786</c:v>
              </c:pt>
              <c:pt idx="10">
                <c:v>223.85715248</c:v>
              </c:pt>
              <c:pt idx="11">
                <c:v>233.18235916</c:v>
              </c:pt>
            </c:numLit>
          </c:val>
        </c:ser>
        <c:ser>
          <c:idx val="1"/>
          <c:order val="1"/>
          <c:tx>
            <c:v>Budget Ending Cash (TRY M)</c:v>
          </c:tx>
          <c:spPr>
            <a:ln xmlns:a="http://schemas.openxmlformats.org/drawingml/2006/main" w="28575">
              <a:solidFill>
                <a:srgbClr val="D97706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0</c:formatCode>
              <c:ptCount val="12"/>
              <c:pt idx="0">
                <c:v>267.80195165</c:v>
              </c:pt>
              <c:pt idx="1">
                <c:v>247.79840685</c:v>
              </c:pt>
              <c:pt idx="2">
                <c:v>246.92948280000002</c:v>
              </c:pt>
              <c:pt idx="3">
                <c:v>244.47214419999997</c:v>
              </c:pt>
              <c:pt idx="4">
                <c:v>253.14860659</c:v>
              </c:pt>
              <c:pt idx="5">
                <c:v>248.52556508</c:v>
              </c:pt>
              <c:pt idx="6">
                <c:v>265.452711</c:v>
              </c:pt>
              <c:pt idx="7">
                <c:v>271.14286209</c:v>
              </c:pt>
              <c:pt idx="8">
                <c:v>251.01403484</c:v>
              </c:pt>
              <c:pt idx="9">
                <c:v>241.42384025</c:v>
              </c:pt>
              <c:pt idx="10">
                <c:v>238.11636257</c:v>
              </c:pt>
              <c:pt idx="11">
                <c:v>247.55063246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Cash Conversion Cycle (days)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4"/>
              <c:pt idx="0">
                <c:v>Upside</c:v>
              </c:pt>
              <c:pt idx="1">
                <c:v>Base</c:v>
              </c:pt>
              <c:pt idx="2">
                <c:v>Downside</c:v>
              </c:pt>
              <c:pt idx="3">
                <c:v>Stress</c:v>
              </c:pt>
            </c:strLit>
          </c:cat>
          <c:val>
            <c:numLit>
              <c:formatCode>0</c:formatCode>
              <c:ptCount val="4"/>
              <c:pt idx="0">
                <c:v>36.85</c:v>
              </c:pt>
              <c:pt idx="1">
                <c:v>45.85</c:v>
              </c:pt>
              <c:pt idx="2">
                <c:v>59.85</c:v>
              </c:pt>
              <c:pt idx="3">
                <c:v>77.85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Operating Expense (TRY M)</c:v>
          </c:tx>
          <c:spPr>
            <a:solidFill xmlns:a="http://schemas.openxmlformats.org/drawingml/2006/main">
              <a:srgbClr val="7C3AED"/>
            </a:solidFill>
          </c:spPr>
          <c:cat>
            <c:strLit>
              <c:ptCount val="5"/>
              <c:pt idx="0">
                <c:v>Sales</c:v>
              </c:pt>
              <c:pt idx="1">
                <c:v>Operations</c:v>
              </c:pt>
              <c:pt idx="2">
                <c:v>Technology</c:v>
              </c:pt>
              <c:pt idx="3">
                <c:v>Marketing</c:v>
              </c:pt>
              <c:pt idx="4">
                <c:v>Finance &amp; Corporate</c:v>
              </c:pt>
            </c:strLit>
          </c:cat>
          <c:val>
            <c:numLit>
              <c:formatCode>0</c:formatCode>
              <c:ptCount val="5"/>
              <c:pt idx="0">
                <c:v>281.16442868</c:v>
              </c:pt>
              <c:pt idx="1">
                <c:v>127.04603059</c:v>
              </c:pt>
              <c:pt idx="2">
                <c:v>112.88058725999998</c:v>
              </c:pt>
              <c:pt idx="3">
                <c:v>91.86497593000001</c:v>
              </c:pt>
              <c:pt idx="4">
                <c:v>85.75945208000002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EBITDA (TRY M)</c:v>
          </c:tx>
          <c:spPr>
            <a:solidFill xmlns:a="http://schemas.openxmlformats.org/drawingml/2006/main">
              <a:srgbClr val="16A34A"/>
            </a:solidFill>
          </c:spPr>
          <c:cat>
            <c:strLit>
              <c:ptCount val="4"/>
              <c:pt idx="0">
                <c:v>Upside</c:v>
              </c:pt>
              <c:pt idx="1">
                <c:v>Base</c:v>
              </c:pt>
              <c:pt idx="2">
                <c:v>Downside</c:v>
              </c:pt>
              <c:pt idx="3">
                <c:v>Stress</c:v>
              </c:pt>
            </c:strLit>
          </c:cat>
          <c:val>
            <c:numLit>
              <c:formatCode>0</c:formatCode>
              <c:ptCount val="4"/>
              <c:pt idx="0">
                <c:v>206.25580812</c:v>
              </c:pt>
              <c:pt idx="1">
                <c:v>164.38105140000002</c:v>
              </c:pt>
              <c:pt idx="2">
                <c:v>118.54125289</c:v>
              </c:pt>
              <c:pt idx="3">
                <c:v>71.29683487</c:v>
              </c:pt>
            </c:numLit>
          </c:val>
        </c:ser>
        <c:ser>
          <c:idx val="1"/>
          <c:order val="1"/>
          <c:tx>
            <c:v>Ending Cash (TRY M)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Upside</c:v>
              </c:pt>
              <c:pt idx="1">
                <c:v>Base</c:v>
              </c:pt>
              <c:pt idx="2">
                <c:v>Downside</c:v>
              </c:pt>
              <c:pt idx="3">
                <c:v>Stress</c:v>
              </c:pt>
            </c:strLit>
          </c:cat>
          <c:val>
            <c:numLit>
              <c:formatCode>0</c:formatCode>
              <c:ptCount val="4"/>
              <c:pt idx="0">
                <c:v>293.28697947</c:v>
              </c:pt>
              <c:pt idx="1">
                <c:v>245.62902581</c:v>
              </c:pt>
              <c:pt idx="2">
                <c:v>185.60080772</c:v>
              </c:pt>
              <c:pt idx="3">
                <c:v>115.87768392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E4A03-CABB-49F3-8EBD-EFD5154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31E3F-22B2-4C19-AB7D-4837EDDF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0"/>
            <a:ext cx="290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6F0BE-A4E5-4155-B223-881FCA49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INTEGRATED FP&amp;A | EXECUTIVE PLANNING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BEB55-BC4F-43E3-8BC5-B243BEC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Integrated FP&amp;A Budgeting,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Forecasting &amp; Scenario Planning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6833B-76F7-45FA-8F2E-BD26B0B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6F2"/>
                </a:solidFill>
              </a:defRPr>
            </a:pPr>
            <a:r>
              <a:rPr sz="1425" b="0">
                <a:solidFill>
                  <a:srgbClr val="D9E6F2"/>
                </a:solidFill>
              </a:rPr>
              <a:t>A governed financial planning platform connecting actuals, budgets, rolling forecasts, liquidity, operating drivers, and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EEF3B-F298-43DF-B41B-B3E80F3E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Murat Miraç Gedik  |  Professional Portfolio Project  |  July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48817-A4B2-4DE2-80DE-3D87D2B8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6D8"/>
                </a:solidFill>
              </a:defRPr>
            </a:pPr>
            <a:r>
              <a:rPr sz="750" b="0">
                <a:solidFill>
                  <a:srgbClr val="B8C6D8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71331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5570A-0FA8-452A-BCF0-E2F43F4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D3038-1BD0-452C-9BBA-99C5784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C959D-BA3F-41E4-B7CD-58ADDD73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The FY2026 decision case in four numbers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C0A63-1015-431D-80E6-84A6F1F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76B5E-250B-4F83-8C2A-2CBC7F78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92F84-F70F-44DF-8B8E-D30CD56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628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3FEB3-FEBE-487C-845C-9F72005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628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E1DAE-1DA2-4168-BDDA-B14F2D9F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FY2026 REVENUE FORECAST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E2D04-7EC9-449A-87DB-2AFC584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TRY 1.79B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AA36A-535C-4428-9E16-818D1B20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-2.6% vs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BC83A-F215-434B-BCFA-D7491ECE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76375"/>
            <a:ext cx="2628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CAB1-67D1-452D-B86A-7353467B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76375"/>
            <a:ext cx="2628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9CCC1-EF4F-4281-A1CD-9B27BE71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049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EBITDA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25493-CEEF-40A2-8B61-DF91BFE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90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TRY 164.4M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E0AC5-2C1B-4C37-828A-B2FB0FE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050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9.2% 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884D6-92BF-4B67-8274-5B229955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628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3E5C5-F326-429C-BC74-C33DD2CF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628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8E52C-C35E-43DD-930B-64010883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049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BASE-CASE ENDING CASH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39624-D7E6-47B1-BA86-6A7580C7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907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A5E9"/>
                </a:solidFill>
              </a:defRPr>
            </a:pPr>
            <a:r>
              <a:rPr sz="2025" b="1">
                <a:solidFill>
                  <a:srgbClr val="0EA5E9"/>
                </a:solidFill>
              </a:rPr>
              <a:t>TRY 245.6M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E6882-1C3F-49C5-82AE-4CDB55E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050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TRY 236.3M minimum cash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6140C-E427-4FC3-BED4-7C4557EE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76375"/>
            <a:ext cx="2819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9CA17-015C-420B-9691-3154C32A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76375"/>
            <a:ext cx="2819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EC672-82D7-4098-B722-1056BE55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049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FORECAST 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BA29D4-1682-49AE-80BF-1E4CA08B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907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97.7%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B35FF-F1D9-42C7-B2A3-AC8EC16B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50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 business-unit champions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43BEC-D22A-4B26-8ED3-A6660A11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73342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8C0FC-C6C6-4403-A101-52380A4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6D2DD-3435-49B0-BD1F-FAE3650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Management message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E317E-A8FC-41B9-93D9-0A1B2495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695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Revenue is forecast 2.6% below budget, yet operating-cost discipline lifts EBITDA 3.5% above plan. The base case preserves liquidity; management should close the revenue gap without sacrificing margin quality.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A1991-8812-4E4A-94C6-242F957A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37147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A4230-7D27-4017-9EEC-47F76F25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CE11A9-DD48-4B04-87CC-D74E801D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813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Decision priorities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89C8F3-8475-40F1-86B6-FC004A7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1. Protect digital and subscription growth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2. Correct the retail revenue gap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3. Tighten working-capital discipline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4. Operate a monthly rolling-forecast cadence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7F0977-2C5A-427D-A119-8EAC12AD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587178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B7FB0-B396-473E-A71E-0DA6977A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7CF52-9B5C-43E1-BE5E-E5C11853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Business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1D1EB-39B3-4B76-AFDA-49E6EB5B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Why disconnected planning creates slow and inconsistent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2FD53-808D-4380-9450-F8126E20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1C5B8-DD16-46A2-98CB-501E6A9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E6D04-0CC1-4E73-A370-D34B4DB9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0C9D0-1B89-4748-93F4-D7E26DC0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502BD-4D67-4347-B395-A9F6F26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Fragmented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5709A-DAE2-49EA-AC3A-43A9E089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 single version of truth disappears when finance, sales, workforce, and capex live in separate 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0BF56-29A8-4EF7-8EB1-F6CB2776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85900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9F8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A019D-279B-47E3-B01C-55F35AA5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859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55E8A-E3D2-4DB7-877E-4EC79326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4782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Static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685C6-5397-4A4A-BB45-E4A367F2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An annual plan alone cannot respond quickly enough to changing demand and cost conditions.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DD4CC-B2EF-4782-A6EC-BE2AFCC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48917-6568-4DC0-8B9C-186C8596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42BF3-3F91-46D2-BF66-D37AA523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Cash blind spot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28046-2D54-4684-87A4-C09E3AA8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Working-capital and liquidity risks can remain hidden even when revenue and profit are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49442-D200-4D2C-BC17-AD62D934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38525"/>
            <a:ext cx="5429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04C45-3BD0-4C6B-97EB-48C83A02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38525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13AB6-90DF-495F-B816-C89980B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Model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84712-F44C-47F4-9FF1-B3CB2FD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14775"/>
            <a:ext cx="5048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Forecast credibility deteriorates when methods and assumptions lack governance.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8FD3C-4661-4708-BA53-32359121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87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EA8E0-A1B1-4ED8-B8BF-0BD04104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AACD9-3D45-4ADF-B1F8-DE75A332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Core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6178E-3512-4B26-927B-8C2187EF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107061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How can actual performance, forward outlook, cash, and risk be managed within one decision framework?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E90B3-DC5D-47DB-9F56-5FB0AD89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725999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0812A-FC76-43EC-847E-F613B6C8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5BA6C-A873-4976-BF7B-37AB4C9E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Objectives &amp;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A585B-B13D-4EFB-AD43-A82AD5D8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A unified operating model for performance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2B2D4-39F6-4C6C-866D-B199EAE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273FB-70CF-4F5E-BFBF-A673CEE5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0AB85-DAE3-46ED-B2D3-5C259FC9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05D3A-8FC9-4637-A61E-DB6770D7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B2117-A28D-4028-B91B-56B36CB1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Actuals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43BA6-A44B-4B69-B030-BBDF0D4D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42 months of financial and operating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C1D9-0B11-490A-8C49-01C1A2A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38715-0723-441C-9813-281DB942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8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8F475-C5AB-4590-9752-F9B1D729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58406-3030-4CB6-B7D2-3AEF5062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4CEFC-CEFE-42FA-A2AB-74CE55F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 targets and departmental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5E5AF-7143-485D-8975-9BFB3E1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3924A-A013-442C-804D-BD77110C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664D3-8C29-43E4-87B5-23429AED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76832-2730-4D1F-8C7A-00980B1D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Rolling Forecast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68CD5-8468-45C2-81FD-4AE55EBC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18-month refreshed forward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31777-3AC7-4B4B-9536-1BCFA2A6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D68C1-BA06-4D4F-AB4E-98D38B80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33C54-2C7E-457E-ACFF-B03B7101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99285-D6EB-4484-8800-D18833E4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Scenarios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6F865-F786-4975-89BB-ACB4757A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Upside, Base, Downside, Stress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080E5-175A-4091-BEF4-91175B44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309D2-1B85-4D41-B31B-501381D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62100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C2E5E-AAB2-4BA9-91AA-DEB9CA8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1E08A-117D-4DB7-8DBE-CC0C72A7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47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06BB2-BD6F-4956-AC73-A67ACFF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KPIs, actions, ownership, and controls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D4001-2900-415A-A3BF-96FF97F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A06EE-4DC4-4D0C-89FA-099386F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Connect P&amp;L, cash flow, and working capital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03CFF-FEC7-4852-81A6-904B4964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E5618-529E-4911-9A7B-6190357B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budget variance through operating drivers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79592A-E1B6-4346-B365-BB4B0F1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9EDD7E-4230-4089-B691-6A9AE1F6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Measure forecast performance through backtesting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87BC24-B6B2-4F00-9A49-B054755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D19673-9B79-441C-B4DE-5F1BE2A0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501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Deliver reusable outputs for executives and planning teams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ED8E52-457D-43BE-8975-15D5B706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5067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57E79-4ABB-4B3A-B291-F8BE3EDA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9E28B1-D47A-487B-99F8-99212BF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00475"/>
            <a:ext cx="468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Delivery scope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232AF9-4D6C-4FA2-9C83-4510D35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686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Python planning engine • SQL data layer • 31-sheet Excel model • 11-page Power BI PBIP • English and Turkish decks • Vector executive report • Technical documentation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7B400-51F6-44BF-AA0D-E9D7A2D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715323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077A3-02D5-48AB-B703-B9AC0025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DD67E-3E4C-471C-9FCA-555CFC44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Data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67B74-800D-4969-8625-1DC855D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Granular finance, workforce, capital, and commercial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C5C85-7C1C-433A-9F95-B69847B8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78CBC-A32F-450D-939A-B629C1A5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15F1A-CC91-4E57-BF9E-8870BC3F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599FE-AA55-43F2-8FAD-723E5284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5,325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91D59-D85E-4F97-92FA-B41B5F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Actual accounting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C70CE-5E8C-4460-A87C-D9ED80DF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2023–Jun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DB398-F4FA-4022-96E5-910E21AC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287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1946C-DC1F-40E5-83F2-038D978A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19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</a:defRPr>
            </a:pPr>
            <a:r>
              <a:rPr sz="2100" b="1">
                <a:solidFill>
                  <a:srgbClr val="0EA5E9"/>
                </a:solidFill>
              </a:rPr>
              <a:t>1,558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48DA7-B227-4300-A96E-34DAE50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955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Budget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9A9DD-457F-4100-8478-0D924D44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955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8BB8A-9B29-4CAF-977C-53BA31D4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F3F22-A3D3-4733-BACC-72F4B4C7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9D8B"/>
                </a:solidFill>
              </a:defRPr>
            </a:pPr>
            <a:r>
              <a:rPr sz="2100" b="1">
                <a:solidFill>
                  <a:srgbClr val="0F9D8B"/>
                </a:solidFill>
              </a:rPr>
              <a:t>2,338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E84DF-2C21-46CB-9B7D-A12ADF74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Rolling-forecast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986D4-564C-457D-BEF5-F1B9BD0D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 months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2E83A-F669-4068-939D-22DD3D34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01F2F-C285-44B5-8EDB-AE190739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9,352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9F1D6-1515-4653-8613-65B7653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Scenario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52101-BD83-491D-8FC2-85146F38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D59FC-1126-4D8F-A604-E192F358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19448-329B-47CA-96E0-0DDFCCC3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81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5,000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88BF3-AAC3-4F31-BED4-53601C3B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576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Monte Carlo trials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A9A83-DC3E-4F6C-BD2A-29CC9F2C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57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Risk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A2BB1-5B06-4C0C-B02D-BB9BD1AC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908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A4BFC-7708-4A2A-8EC9-044D5F22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3C1EC-39BA-40B0-84F1-C9366A6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Cost centers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EA310F-76E5-4E6F-8591-8035CC56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Department × Business Unit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26A8E-071F-45DA-B49B-5DFA1C2B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087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571DA-4112-4F88-8CE3-AD9516C9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B77E7-3E81-4644-B3DA-50A5BB33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Design principle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1A8FBB-EE45-4EA5-BFDB-EF9FC76C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Every table is traceable through month, version, business unit, department, and account dimensions—supporting both financial reconciliation and time intelligence.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3465CB-1429-43F7-A670-0F67C26E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872716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7560D-58B2-4168-829E-649CBC23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CB0F1-5BC5-472A-AA03-F58ADE55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902BF-3977-44E8-8C1B-C1E3877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A reproducible path from source data to executive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0A2CE-B940-4149-8257-C92C022C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6270-47F7-49C4-94CB-654E145B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FDC7-DB60-41F7-9A53-D14BDDE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D6A86-1FFA-4B08-B3B3-6352567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1311B-83FC-44C9-AB65-D9258019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89D44-1FDF-4DF5-88E4-575C9F16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ERP, CRM, HR, and capex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20F41-492A-4B8D-89BE-FDCD56B0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529AB-94E8-432F-93CD-8CFF771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8FE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95782-481C-4929-A55B-BC7CC5BC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A5E9"/>
                </a:solidFill>
              </a:defRPr>
            </a:pPr>
            <a:r>
              <a:rPr sz="1050" b="1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D60EB-ABBB-4063-A917-71A1FBD3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Transform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8DD5F-3121-49A2-8E67-5E9EB213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Python generation, control, and forecasting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E8196-B732-4DA4-A5E9-34C8A34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D290D-D0CA-4DE1-85B7-5CF1589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A57B0-5A55-4DD3-A7A7-734C300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45125-4CC9-4A0E-9DB0-286ADCC3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39EA2-590F-43FF-B49E-451C6C78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CSV analytics layer and SQLite 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84CD0-1063-41B4-82C1-EA9A39D1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28E6E-7863-494E-AC1B-076188CE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54BBE-6A81-472A-A822-FAE0737F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6367D-337A-4419-8169-8132BC0A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4A34C-4122-4A73-BEA8-A19C5AE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Power Query, SQL, DAX, and semantic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3AD49-84DB-42E0-A7E6-EC75D046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085"/>
                </a:solidFill>
              </a:defRPr>
            </a:pPr>
            <a:r>
              <a:rPr sz="15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9C7C87-4E12-40C7-865E-25A1A57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6687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80FEB-3604-476F-B361-3CC73E7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192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511B1-4BA7-4CC7-9711-92093137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Consume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56EA1-E8F5-4C52-ADF0-BAFBD811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0325"/>
            <a:ext cx="1609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Excel, Power BI, PDF, and PowerPoint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11D8A-E104-49A3-8677-D5D0C247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429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6A6EC-91B1-48AD-897D-1E8BC046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E7DAAC-5A5A-4A89-AFE3-EC4C7E2A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Reproducibility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CC956-0619-4B3D-9BDF-A219F6B8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048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One command regenerates data, runs the models, refreshes reporting tables, and repeats control checks.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6A23A8-7376-44D5-A68A-35693E3A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3429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2FCE45-C38E-46BB-82DF-F164313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125EDB-0CA9-4BE6-83AA-9480BCF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Auditability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1B13E8-7E8F-4CCF-B49F-7A1530F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048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Version, period status, source system, and control results remain visible throughout the pipeline.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D6A228-26DB-40F3-9BC5-6D53C4E7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7719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222F24-EFC5-4EFE-A4F8-480B9698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C3C75D-8F68-4D8B-A401-74D83AA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81425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Portability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C87091-961C-48F4-BC2E-C2223937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33909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The PBIP semantic model embeds its sample data; Excel and SQLite remain independently reviewable.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56D482-075A-4AE2-B679-F8EDCBB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349410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A83F4-248F-4372-9FE4-3514418D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DC80B-760C-47C5-BC47-43DA568B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Semantic Model &amp;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A47DC-20D9-49B9-9FAC-A6995F0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Calendar-centered analytics with auditable financial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E0A31-9441-43ED-828D-1A80F153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9DB46-26EF-4AA4-A580-0FF2AB2D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4B13D-9D38-48A3-B2B1-36B4EC4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211D4-C222-4249-BCFA-E12C2C08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Calendar-Centered Star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EFC1-4F1B-4F4F-B076-21C98FE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F66DF-FD0B-43B9-8123-3E8A1C1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dim_calendar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7C826-B148-4354-AC71-573920A1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19C28-6628-43FA-A9BB-AB310E45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monthly_performance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7F59F-21D1-4CB7-8C24-CF7BAB43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003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21709-EA90-4AB6-8A1A-60C2F07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A0649-EF7B-4850-A677-B84B60A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department_performance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2B42A-812D-42B0-93C2-CD0B3326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148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4D1E1-CD31-4ADA-BE38-F8A54CA5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4AADD-761E-4962-85ED-580C09C5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business_unit_performance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79B67-C9B5-45B8-BC6D-C2135F9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03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864F4-FB36-418F-B5F9-3F0BC2D7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57625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B4A82-2119-494A-ABF9-073FFCD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95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scenario_summary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623A8-FC58-4837-AD3C-B070FF89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1480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7F996-8A21-4A60-BF36-2B620DC1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Control 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799EB-80AD-4556-A176-31D000A2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CB086-231E-476C-9764-4A9ED265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P&amp;L equation reconciliation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FE6A4-E86D-4DE4-957F-01A189D2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71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F59E6-CB82-45BA-9BD0-5EDD8B6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Cash-flow continuity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27523-7BF6-4D40-AD6F-54A3F41E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5A8D8-0DFE-4233-8C3C-04A55951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Working-capital balance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E1F02D-7C29-46F3-8622-E5521FEE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432834-7F81-452D-8B90-F82979A7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6237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Scenario ordering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48B4EB-23AC-42EC-A8E6-54C59F2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34D2D-9005-45ED-993D-E47A62B4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Forecast backtests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73C3C8-F588-42DB-97C9-B4CBE3EB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67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560EB-5014-4D65-9ED6-36F6ED6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0125"/>
            <a:ext cx="3105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Source-to-report row reconciliation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BC3BE-BA6A-415D-AA3B-6F05B21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34480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E091C6-4846-4E44-BFE8-3AE77BF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407A7-D1D1-4813-A3B3-63B135FC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86375"/>
            <a:ext cx="306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17 / 17 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83852B-0515-4CA8-A704-44F704F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00700"/>
            <a:ext cx="3067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Financial and data-quality controls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C5872-3D1F-4F20-992C-265EAA53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877441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AC9C8-20CF-4190-ACF2-A88FF1F6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DC3FF-9110-4DDA-8358-BE25CA2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Historical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679FB-6701-4226-A14A-F417E1F3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Growth continued while profitability required active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63873-5DDA-473E-9841-95FA2356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5E0E6-A52F-4367-83DC-95B5D54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CAE45-E543-4C46-8697-062AEBCE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620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7143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8a0125a554c1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A68A1-5660-44CA-8895-CED8C6F4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3EAE9-AEF6-46F8-8DF5-9A27C56E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F8A44-90E7-4937-BC68-4D17290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5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2023–2025 REVENUE CAGR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ED4DB-07A4-445E-9B23-3DABCF99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13.3%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D60A7-FE9D-48A6-8848-E405AD0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two-year growth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C808B-06B0-4B5F-B6D5-F82D8345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31EC4-EF7C-4512-914F-90B3C59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10E8B-84EA-42AB-870A-7B02770A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FY2025 EBITDA 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4ABF2-AE69-408F-A6DC-19180AE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8.8%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D028A-D97D-4AF5-BDD5-A54F70F5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TRY 142.3M EBITDA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C4CA9-7E5E-4DFD-A37A-5E2FED8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3162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1DC25-4599-450A-B4A8-2669DF2C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EE217-C33F-407B-BF94-45811D09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D3C36-EB21-4EE3-9E3A-346E8C6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292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Scale increased, but margin remained below 2023. The FY2026 plan seeks to balance growth with tighter operating-cost discipline.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B9C5B-7975-4EFB-BAD4-B0D6D4E4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418890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7C2B3-C62D-4BA1-BD36-D8E2DC0A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B207A-DE81-4039-9215-1E181F77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Revenue Drivers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F83DE-E2B6-40C9-A634-4671574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Business-unit mix defines the growth outlook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4C268-9709-433A-9AB8-EC9C3DD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E405D-FFF2-4B5C-A6D2-E7FFFC1B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E42C2-D5D1-467A-91C1-C469D9F0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180ab1ae2544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B2B84-4F8F-43C6-A594-28B85E5E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4EDE5-8278-4D5C-808C-8C399C9F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80FDE-576F-4D99-932B-891B7264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906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Largest contributor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7FD29-12F2-442F-A906-FC7B86F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Digital Commerce</a:t>
            </a:r>
          </a:p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TRY 788.3M | 44.0%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BC5FB-9EE9-4E58-81D1-DAD86114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524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7EE75-C5DB-4330-930E-82FC2C8B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EFCB4-A5F1-4E8F-BB17-3CA81EC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Growth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164D1-BF63-4D27-8860-85835FF0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Traffic/leads, conversion, transactions, average selling price, and churn/refund are modeled at business-unit level.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6DEEC-2086-4366-8EAB-9499AD98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3524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D603B-BDE9-476D-BCE6-D91E797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F79DF-F170-4A20-8CB4-625CDC4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624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Management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88EC2-D3A8-4BDE-9B89-882994D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Protect momentum in digital and subscription channels while correcting the retail plan gap by channel.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C64C8-1183-45EF-A548-AD5A41C8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202848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069134-B115-48D0-AE90-6A0105C7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60B15-051D-47EE-B2BE-B4257AE5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Cost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B007-7840-4270-8A5C-55E97B2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Where gross margin and operating leverage are created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7F30A-47B0-47BD-BBC0-8F95C6F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992E4-25C7-4CC0-8864-E94D50AB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E9EF9-A1AD-4EBB-B595-E0C2B045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85000fb214417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95177-204A-463C-9936-7D931D75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D8122-F801-493E-86D8-0AAF75CA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A3A3C-BC48-4A18-8880-DFE3160E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906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Gross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BEF9F-1E04-4220-A121-D178C80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50.5%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7DE62-149A-4A21-85DB-924036C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3524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2876B-5B05-4D43-A658-9D8CD017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2CC19-ADAA-47EC-ABB4-248B07CC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384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Operating expense / revenue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6C3C4-B987-4335-A9BF-0A1DF52A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41.4%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2F0D1-44E2-4C12-91B7-1197F9F7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3524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C9CAF-6EDE-4DC4-84E6-09F8E88D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5296F-E95A-4E7C-8234-FAB9AE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862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Leverage opportunity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EA713-1744-45D8-B18E-A160FFB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Operating savings keep EBITDA above plan despite the revenue shortfall.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DCAEF-5E6E-4300-8AA2-01E3B09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388697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073FD-68D4-49AB-B23A-3FE2298B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83F62-ACDC-4E93-9956-7FD92467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H1 Actual vs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A47E0-3167-493C-9422-3ED05854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Revenue softness was offset by operating cost discipline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DD149-977C-4205-92DE-0F5BCF58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B7D9E-31B4-4F7D-8E64-E93B9B6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64143-D81F-4221-9E99-F54FFB77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7152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23900" y="1714500"/>
          <a:ext xmlns:a="http://schemas.openxmlformats.org/drawingml/2006/main" cx="7143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d8ded1da134d5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EBA4B-04C3-490B-804D-6220E847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3067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82114-0509-4BF0-AF31-D06ADFA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7B29-0DF9-4B21-9B14-78795A28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906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Revenue variance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FFACB-B638-417D-8FD6-76E1E68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TRY -13.2M | -1.6%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21DF6-4BC0-44DE-A49E-C2D094A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3067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24088-46FD-4600-AE83-F512F394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A478F-08D2-4E46-9A9D-234B3BE0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813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EBITDA variance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8652B-52EE-40C8-9053-FC6330E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+TRY 5.1M | +9.9%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F3B93-531E-4F85-B192-2C41043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3067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478C0-8709-412C-9C83-67735D21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9AA01-9D5B-4AE7-A15C-8615B6E1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719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Read-through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ECA45-5ADA-41DD-9020-2FE3990A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8630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TRY 18.5M of operating-expense savings offset the H1 revenue gap and kept EBITDA and net income above plan.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3D7ED-4A0F-4602-9DB3-21431B6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2117225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27F30-E90C-43C0-A36A-93F59AAF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1DE90-C434-438F-8F07-5CF6D285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FY2026 Forecast vs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13020-7251-440F-B6B6-3357BDDD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Lower revenue, stronger EBITDA, and a higher closing cash 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1AD70-A5ED-427D-8909-A6E3B052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0E7A-B172-416B-8F80-11ADF7C5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1AEB7-694F-440E-99CF-70E15488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C3027-F7E4-4B09-9FF3-35EC2E82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2D4E4-FEF1-4472-85D2-2ECAA6B9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09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Forecast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57D63-855D-4E1C-A785-824DEB3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9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B50C8-A901-4369-B767-8AA1237C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09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Variance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F4A12-A281-43B2-B0EB-F9D28E00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097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FCAFB-C6B8-4BF1-BB2C-1376479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FB290-1EC2-44CB-A28F-60A1CD0E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2E6E5-FB88-464F-8982-3E194B5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574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1790.8M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FE99E-598C-4677-9370-9C118D45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1838.8M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56693-A43E-496D-A843-45679B3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574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-48.0M (-2.6%)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1BB36-C401-4FDF-AC35-18313ED5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Unfavorable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BD2F8-0276-4BDB-A96F-7F2CE9F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70783-BEDC-4C59-B7EE-529EA7DF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Gross Profit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A978F-B461-420A-B83B-DB9E8746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5146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904.9M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210EE-1EA4-44F9-B427-9B526D0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942.2M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A9577-75EB-465D-BC88-C4B2A34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146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-37.3M (-4.0%)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19A21-D619-4301-97C6-F9240FB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Unfavorable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AC095-212B-4C3A-8E7A-44B8B99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C164A4-8DB8-408F-B903-A87A88B4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Operating Expense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4FFF9-5CC8-40FB-A76F-86E05B8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718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740.5M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7B177-4F75-4AF2-8C99-E42DDD4A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783.4M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9C8044-8951-4C67-B282-2893EDC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718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-42.9M (-5.5%)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8E477-5DFA-41C3-BF42-1B265AD7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Favorable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369C6-71F2-453A-817E-DC2A3E64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3C7A4-08D0-4D21-9088-53A350FA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EBITDA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91C34B-2635-4B46-A4E7-B0F716C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290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164.4M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660DBC-8CC5-4FFD-9B79-E104539E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158.8M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609F1B-D1A1-4E5B-9FE6-CA9F147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290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+TRY 5.6M (3.5%)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2384C-6453-4CDF-A5C1-91886FA5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Favorable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54BBCD-0CDC-4731-948C-A9347001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002B5D-A6FE-4265-9B03-BCE15BC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085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Net Income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CF1BEA-F6EA-4955-BF84-70EC66A8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862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107.4M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E0A945-6872-405F-9588-A2019166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TRY 103.2M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D5FA73-C0CA-4660-B581-C4796F51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88620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+TRY 4.1M (4.0%)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E2D801-7EC0-4BF5-A8F9-39E81CE9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1419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Favorable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3C48F1-28F2-4E07-9DBD-97FD1DB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924050" cy="27432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6BD774-E0CC-4CF1-88BF-25B3720E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571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5AE96F-E9F5-4076-B1C2-27FB9F3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Key outcome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F52DAA-5212-45A2-AED2-2244D17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5430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Revenue is TRY 48.0M below budget, while EBITDA is TRY 5.6M above plan.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A4C6D8-E7B1-4B27-8449-0333B91E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087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5BE9EE-E537-41A5-BBF3-48B8745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B54623-85A5-4851-BBBC-357AC93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Planning decision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656EB4-7F16-4FBA-B909-FFD5D29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Build a commercial action plan for the revenue gap and preserve the below-budget opex position through productivity metrics—not indiscriminate cuts.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AFC1CB-77EE-4965-A044-28CB48F7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059324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026C9A-266A-49D1-B36C-99CAAC9A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B4894-7BBE-466E-B836-285D6E2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Rolling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8ACD6-B66B-4ADD-8749-1D8EC76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Monthly outlook combines closed actuals with a refreshed forward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4A8E2-FAE5-471C-823E-58BA9C4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FB586-7ECB-4BF1-9FAA-40A2513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7799B-B9AE-43B7-84FC-9C5AE221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9057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23900" y="1714500"/>
          <a:ext xmlns:a="http://schemas.openxmlformats.org/drawingml/2006/main" cx="7334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b2fe9973c944f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A63FE-FB70-48BC-8226-BE915449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876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FC84F-D44F-4B9E-B8E6-ACCFC196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3E6BD-413F-4536-81B0-EFBFC8B5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Closed period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46EBB-5C60-4791-99F1-D28EEEA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January–June actuals are locked into the forecast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C1469-04EB-4B41-9447-35CF90F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28765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2A408-BCD9-417B-B2BB-48D91DF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CC8A3-1AA6-4221-812D-72563DF3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62275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Forward period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40658-4CA6-4BFA-86BB-543EBE6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July 2026–June 2027 refreshes from operating drivers.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4D88C-380F-4754-8F47-FB8FA5FF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8765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B7646-D7C8-438C-B07E-BDFF8BC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73831-84CC-473A-AD06-B690E7D6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2495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C4642-267E-437B-9404-D1434741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Monthly close → variance review → driver refresh → model run → management approval.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32A34-02C5-41BA-8B4E-120B7EC2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625871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BD9DD0-34A2-497D-AF31-3BB2CB01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88D4C-A7EB-4730-86B5-1E4C0118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Forecast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C81AE-7B9F-448B-AC2A-716C699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Model selection is evidence-based and business-unit specific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142D6-C008-4499-B2C5-8F17473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04A4A-A6EF-4374-AE9C-7B14CF5F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9C3BB-2435-409B-8075-5A3B4326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76C97-DB5B-4C10-A7BC-D20DE25B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Business Unit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B31AB-2BFB-40DE-B79D-A595CC68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97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Champion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D4CBF-A018-41EF-AA48-191121A6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972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28CA2-DD82-45C9-86BC-6A33C2F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972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089CC-B1A7-4B44-8064-0970E7A2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56791-F3C2-4D84-AB71-0F5C73DB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Digital 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4417C-DAF6-4929-8B0E-BC0C0B0C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1455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Linear Trend + Seasonality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ACAF7-7BE8-4128-BF1D-23EB57BA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D50AF-88F3-45EE-AA13-2A1C1416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99.0%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62DCE-7674-4EC3-A7A4-7F2F8792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8FB3D-D75A-4BC9-B27D-44C3E04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Retail Stores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3E9F7-BF77-4C89-B6C0-1007E3D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2890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Linear Trend + Seasonality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2581F-5F83-4A46-A561-420C40E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2.8%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4EF7E-9645-4B0F-9F14-E7D70B56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97.2%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6A63B-9AD7-4324-AC6C-94EFF3E9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6FFFD-8416-459E-A321-C8345D9E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Subscription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C23ED-907B-42D4-AFDE-2CC3545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4325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Log-Ridge Seasonal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1738B-6540-46C4-97C0-F9B44794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3.6%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E2699-DE1A-4222-805C-8191AFB1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96.4%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9AC7E-1C65-431A-B4D1-53AD69BF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4763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EDC8A-DF85-4CB3-92A8-40C74019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Wholesale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E56B52-A275-4404-AD43-2B0996B8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2895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Log-Ridge Seasonal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6513E-83E0-4069-BC6E-A5BE8119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1.7%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A4562-9B54-453E-A784-2E79A3DC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57600"/>
            <a:ext cx="146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</a:defRPr>
            </a:pPr>
            <a:r>
              <a:rPr sz="900" b="0">
                <a:solidFill>
                  <a:srgbClr val="101828"/>
                </a:solidFill>
              </a:rPr>
              <a:t>98.3%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7C8F23-1D26-442A-B107-4C83B108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924050" cy="25717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065CDD-6EAD-465C-BD4F-2D0BC573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E6929-8F4A-4E8F-B857-D4145E34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Selection rule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F8651-1328-4F10-A6A9-284791B7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5430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MAE, RMSE, WAPE, and bias are evaluated together; the lowest composite score becomes the business-unit champion.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BD5AFB-0978-4BE3-A32A-E3475375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33337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DEAAF3-19E6-42A0-B79C-61CD7D82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A3D6A-CC01-4463-895E-7A3EB76A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AVERAGE CHAMPION WAPE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9866AC-9CC6-443E-BAC2-8F38B33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2.3%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A6E593-E328-44BA-B74A-B4102E5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990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 business units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5B129A-99EE-474D-9F33-FD9AD376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74485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CD303D-6171-4FEA-A622-3C2E669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F3781-68D7-452C-AE30-5DE7885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38675"/>
            <a:ext cx="706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Model-risk control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E3BFCC-624F-4E74-8E25-8BE16DDB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7067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Backtests, model cards, assumption logs, and monthly error monitoring prevent blind dependence on a single algorithm.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F38815-5980-4875-BE53-22FE3940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0406856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C24F0-3619-4F49-B312-FF990F3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75936-D18A-4EA9-A971-CDB8F8A3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Cash &amp; Liquidity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106A9-B752-45B3-8177-D115CBAF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The plan preserves liquidity across the operating horizon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15E9A-C59D-45CC-A6D6-697DE05A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83B82-9A27-4A24-857F-8E51312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43C71-B4C4-439D-A53A-9D56268C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04850" y="171450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04918251ba456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6C9A0-C9F2-4141-9818-113F774C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5B7E8-A976-454E-8C7E-71196AC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03D0D-CC49-4221-AAF3-DFA86A76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FY2026 FORECAST ENDING CASH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BC295-1C6A-4839-B814-0A1F9AB9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TRY 233.2M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D10EE-8B16-477A-8710-A89AE414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TRY -14.4M vs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115D6-DE34-4046-8621-73A22CE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524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CC565-EDD0-4804-AA76-0A6FAE3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A6E1B-4C16-4F5D-8C86-00B24EBD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FY2026 MINIMUM CASH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4B787-B534-4834-B6D1-D84EFF53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TRY 223.9M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57668-E2BF-4D68-9AE1-28DD7ED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positive liquidity buffer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FD0E1-4C1F-47CB-930F-47B60829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5242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4AAFD-4D3C-4AAA-8FA9-159E7DF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99F60-9ECA-4150-BBBC-1916E1B0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44FA4-EBB3-46EB-AAC4-909E7312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Approve growth investments against the cash floor and scenario thresholds.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6F505-2737-40A9-8CA8-E6F47AB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5713877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7CE65-E642-4446-930D-69883CC8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BEBAF-6600-42CC-B5CA-1C8B3E0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Working Capital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A4E46-A9A9-4600-95E9-E3740F63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Cash conversion is a controllable source of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47212-A3DD-4E20-A622-4F79D06B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4273-A8DE-403A-A806-766D165A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AAF25-C598-48BD-BF24-85A6EFA0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d7f35ecc80412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A7E1F-A15E-4119-BE91-5F64ECC0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F4E32-257E-413D-8CEC-2311EF90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1BE94-96BF-472A-A837-AFFAEED6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BASE-CASE CCC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77D86-BB34-429B-911B-FDA2DA4D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45.9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BC6FE-D080-4C99-885C-D185FA03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DSO + DIO − DPO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33B71-1FEA-4CD4-B976-EBEDD212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3524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6244B-E5AE-4B4D-9C81-461A836F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8AF0F-4A33-42C4-B8E0-E96F60C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D8B"/>
                </a:solidFill>
              </a:defRPr>
            </a:pPr>
            <a:r>
              <a:rPr sz="1200" b="1">
                <a:solidFill>
                  <a:srgbClr val="0F9D8B"/>
                </a:solidFill>
              </a:rPr>
              <a:t>Value levers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90A55-5985-4566-A284-60F597CF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Accelerate collections • reduce inventory days • optimize supplier terms responsibly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A56F3-EF26-4449-A40E-18014932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3524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975FD-7BC2-4165-A9BA-F3B26AC6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A0193-2991-4069-A54B-E66F2020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Stress 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6D256-EDE4-4AB6-B4DE-D03D1BA3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14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CCC extends to 77.8 days while ending cash falls to TRY 115.9M.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009EE-5165-4E72-981A-1AAD7FE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4030065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4C4E0-BBC9-4236-9412-4C8EF0B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6D14C-1954-45DC-A2DC-B9A4A222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Workforce &amp; Capital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FDA67-D1E2-4291-B6D5-B3DEC532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Headcount and capex remain linked to strategic priorities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01BDE-FF7D-4D12-8A56-CA3FAAD3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6D449-6F3D-4803-9614-6379BE9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2492D-19D9-4BAB-8A89-C4549800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429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746A5-AF33-42B6-9369-008CCC42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E258F-C757-469D-867C-22F01298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CLOSING FTE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91B7C-20C2-42DC-B65B-60C926A5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231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CB208-FE80-4D61-8B38-9FDF085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December 2026 forecast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54E92-494C-4EA4-AF41-716828DE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76375"/>
            <a:ext cx="3429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3A7D2-48E8-4A9C-915A-90D39C1E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76375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28B86-D54F-4EB8-AFF3-731DFABC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049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PAYROLL + BENEFITS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4FEA8-952A-4406-84D3-B55037F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90725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TRY 313.9M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F60A3-35E6-474C-9771-08DD02B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050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 forecast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9345B-3533-4321-AE80-4B6401E8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76375"/>
            <a:ext cx="37719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CB7B2-B68E-4C20-9F90-826ADA56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76375"/>
            <a:ext cx="3771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1C73E-61E9-45AC-AA86-FC38B7B4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049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CAPEX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4773E-9850-4BB5-9FEB-33144824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907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9D8B"/>
                </a:solidFill>
              </a:defRPr>
            </a:pPr>
            <a:r>
              <a:rPr sz="2025" b="1">
                <a:solidFill>
                  <a:srgbClr val="0F9D8B"/>
                </a:solidFill>
              </a:rPr>
              <a:t>TRY 39.4M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377C3-BA2C-4401-9786-6E72FC3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050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FY2026 investment spend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656BA-7E6D-41F6-B358-F8BD4F72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68580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85800" y="3476625"/>
          <a:ext xmlns:a="http://schemas.openxmlformats.org/drawingml/2006/main" cx="63817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aa43ca8b6f42dd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2FDEC-E7BA-43AB-9483-2FF40C39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39243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E2AF8-598A-497F-874D-780B9ABC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57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2FA7D-ED3A-489A-A291-8702CE11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Governance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3DE01-7787-43F6-9CBA-CE9B83BD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5433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Hiring and capex requests are approved through a joint assessment of revenue capacity, productivity, cash impact, strategic alignment, and scenario resilience.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D0554-006F-41CB-A7B2-C4263E16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8754862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089D2-E149-4DC7-81A8-D7FFAF96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A1126-1175-4830-AF44-22A6F278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Scenario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0BE3C-5FDA-45E5-AF72-8F125FEF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Four coherent cases quantify growth, margin, and cash trade-offs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83738-7307-477B-870C-C1E7D3C8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EB0D5-AED7-4EC7-A366-1AB9F25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B0922-3BA4-46C2-8B54-A970C07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620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143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0db95f26c7431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F5959-13E1-4F51-AE0A-98381567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89B15-73E2-4239-A4AD-77270549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B50FC-BDBB-4140-810B-E2E1E222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5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BASE EBITDA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7107E-DE91-4A8C-9B6B-9B1FFCC3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TRY 164.4M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712ED-30A7-42B0-ACE4-1EFB7F54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9.2%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615E9-9103-4898-9334-2695991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D67C7-19BC-44FC-B196-467D15E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162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CDEC2-DBB7-49F0-8FCC-90640284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STRESS ENDING CASH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BBDB1-F36F-43E7-A1C6-54EB326A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2626"/>
                </a:solidFill>
              </a:defRPr>
            </a:pPr>
            <a:r>
              <a:rPr sz="2025" b="1">
                <a:solidFill>
                  <a:srgbClr val="DC2626"/>
                </a:solidFill>
              </a:rPr>
              <a:t>TRY 115.9M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B2CB2-D4DC-4F0F-BA80-53C3000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77.8 days CCC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ADC15-98A0-4F0B-893E-DD484028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3162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4C3F9-2ADD-469C-A415-C25116C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57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3E3B4-BFA0-4C92-AEF2-9C61D64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B5A66-2EBE-4338-A50E-D9048E9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292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Cost, capex, and collection actions activate when revenue, gross-margin, or CCC thresholds deteriorate.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6E752-777A-4288-96F1-B14B883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393531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44F11-7BC9-46A0-B188-A509906F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INTEGRATED FP&amp;A | EXECUTIVE PLANNING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F133A-4972-453E-ADD1-5B3D88B3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Risk &amp;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76DA1-F54E-4211-B1BB-84C8B014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Monte Carlo simulation exposes the distribution around the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F6441-1462-4B29-93C3-B48A70B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718D1-C151-4FF0-B422-66A4037A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088E2-2A4D-42F6-ACEB-2E7AF294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476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C438B-D9CB-4555-81C2-60BA341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7EB41-A48E-4986-9920-EAED6A1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REVENUE P10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72F1F-3EDD-4A47-851F-9E91D062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2626"/>
                </a:solidFill>
              </a:defRPr>
            </a:pPr>
            <a:r>
              <a:rPr sz="2025" b="1">
                <a:solidFill>
                  <a:srgbClr val="DC2626"/>
                </a:solidFill>
              </a:rPr>
              <a:t>TRY 1.62B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A9D9C-D897-4A39-9F32-203C52C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lower 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921B9-824A-4A91-AD00-8822A08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28750"/>
            <a:ext cx="2476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3F94B-BD91-4F4E-9E2B-D170425F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287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D3025-CB16-4684-AE3F-FC9289D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REVENUE P50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920CD-3FD8-4C77-A4F8-97FF7245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4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TRY 1.79B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87A8C-4313-43C6-A6A2-40DA7D3D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574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median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108CE-352B-4286-A88D-A6072F32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28750"/>
            <a:ext cx="2476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5E1DB-4232-4672-A5D9-112AA4C2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287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AA0D6-A4FF-4BC2-B93A-231A8D03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REVENUE P90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CD17F-7DB9-492E-99E9-4B43D1A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TRY 1.96B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AE7EC-DAFA-4420-9A1E-5A4A2843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upper 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50C44-9D8B-43DE-9BF8-3B1CABEA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30861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EB757-6345-4622-B7A8-550EFBEF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3086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5F916-9F9E-4467-A4B4-6C85D81F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573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PROBABILITY EBITDA BELOW BUDGET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1E387-BEB3-40D7-9EF0-7DCB425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47.6%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6918C-F86E-4436-802A-B65FCFC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5,000 Monte Carlo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78BBF-05EE-45D8-B1FB-50DE594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AC237-BB8A-4F77-A804-B23CED3A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0–30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69A38-9E19-4F73-87FB-DD5424F1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Formalize data ownership and the monthly close calendar.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3F006-DEB7-4096-80B1-857EC8E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9D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C0690E-209F-4FE9-98CC-45361EE7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8B"/>
                </a:solidFill>
              </a:defRPr>
            </a:pPr>
            <a:r>
              <a:rPr sz="1050" b="1">
                <a:solidFill>
                  <a:srgbClr val="0F9D8B"/>
                </a:solidFill>
              </a:rPr>
              <a:t>31–60 Days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79EF1D-6892-4069-B06A-1BE7095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Operate driver refresh, forecast backtest, and variance-review sessions.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F47BC-00DF-4381-B750-21102C39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486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FE106-B6C3-4B6D-BBB4-AFA76F4D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61–90 Days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70E4E-0160-4DE1-9725-3E33742E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Create automated management actions linked to scenario triggers.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2854F1-4C16-4FDC-8DF7-A76DB7C3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Asteria Consumer Group | Synthetic portfolio dataset | TRY | 2023–2027 planning horizon</a:t>
            </a:r>
          </a:p>
        </p:txBody>
      </p:sp>
    </p:spTree>
    <p:extLst>
      <p:ext uri="{BB962C8B-B14F-4D97-AF65-F5344CB8AC3E}">
        <p14:creationId xmlns:p14="http://schemas.microsoft.com/office/powerpoint/2010/main" val="19799397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9F16D5-4DDD-405E-AD9D-2318E8C1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8FF"/>
                </a:solidFill>
              </a:defRPr>
            </a:pPr>
            <a:r>
              <a:rPr sz="900" b="1">
                <a:solidFill>
                  <a:srgbClr val="8FD8FF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07125-78A9-49C6-8A59-84627086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One connected view of performance,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plan, cash, and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F2122-00BB-49C7-81E1-F03D60E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819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6F2"/>
                </a:solidFill>
              </a:defRPr>
            </a:pPr>
            <a:r>
              <a:rPr sz="1425" b="0">
                <a:solidFill>
                  <a:srgbClr val="D9E6F2"/>
                </a:solidFill>
              </a:rPr>
              <a:t>A portfolio-ready FP&amp;A system demonstrating financial modeling, statistical forecasting, business intelligence, data engineering, and executive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9BE86-B040-4CAC-B9A9-D4DEF411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Murat Miraç Gedik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FA592-58FE-4E30-9173-72A01464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D8FF"/>
                </a:solidFill>
              </a:defRPr>
            </a:pPr>
            <a:r>
              <a:rPr sz="1050" b="0">
                <a:solidFill>
                  <a:srgbClr val="8FD8FF"/>
                </a:solidFill>
              </a:rPr>
              <a:t>FP&amp;A • Forecasting • SQL • Python • Power BI • Excel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BE88F-2555-429A-850A-F4237D12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8C6D8"/>
                </a:solidFill>
              </a:defRPr>
            </a:pPr>
            <a:r>
              <a:rPr sz="750" b="0">
                <a:solidFill>
                  <a:srgbClr val="B8C6D8"/>
                </a:solidFill>
              </a:rPr>
              <a:t>Asteria Consumer Group | Synthetic portfolio dataset | TRY | 2023–2027 planning horizon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0996A-957D-4989-B6BF-B16EFA7D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44A22-0713-4A77-9A11-BDAE2838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33625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PLAN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DECIDE</a:t>
            </a:r>
          </a:p>
        </p:txBody>
      </p:sp>
    </p:spTree>
    <p:extLst>
      <p:ext uri="{BB962C8B-B14F-4D97-AF65-F5344CB8AC3E}">
        <p14:creationId xmlns:p14="http://schemas.microsoft.com/office/powerpoint/2010/main" val="1985117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2026-07-26T20:41:39.4820000Z</dcterms:created>
  <dcterms:modified xsi:type="dcterms:W3CDTF">2026-07-26T20:41:39.4820000Z</dcterms:modified>
</coreProperties>
</file>