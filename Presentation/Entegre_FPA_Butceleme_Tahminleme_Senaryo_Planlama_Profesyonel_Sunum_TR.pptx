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8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9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14c902d95c4bce" /><Relationship Type="http://schemas.openxmlformats.org/officeDocument/2006/relationships/extended-properties" Target="/docProps/app.xml" Id="R6e6e6f97678143cb" /><Relationship Type="http://schemas.openxmlformats.org/officeDocument/2006/relationships/officeDocument" Target="/ppt/presentation.xml" Id="R6c303fadcb344c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ff31a822e34e87"/>
  </p:sldMasterIdLst>
  <p:notesMasterIdLst>
    <p:notesMasterId xmlns:r="http://schemas.openxmlformats.org/officeDocument/2006/relationships" r:id="Ra5ceec91c2054d16"/>
  </p:notesMasterIdLst>
  <p:sldIdLst>
    <p:sldId xmlns:r="http://schemas.openxmlformats.org/officeDocument/2006/relationships" id="256" r:id="Red46bb30c35b425b"/>
    <p:sldId xmlns:r="http://schemas.openxmlformats.org/officeDocument/2006/relationships" id="257" r:id="Rf0ec208e775c4b4a"/>
    <p:sldId xmlns:r="http://schemas.openxmlformats.org/officeDocument/2006/relationships" id="258" r:id="Rb676f1890ddb4906"/>
    <p:sldId xmlns:r="http://schemas.openxmlformats.org/officeDocument/2006/relationships" id="259" r:id="R5179e1c50bc14a65"/>
    <p:sldId xmlns:r="http://schemas.openxmlformats.org/officeDocument/2006/relationships" id="260" r:id="Rb2073d0781e2414c"/>
    <p:sldId xmlns:r="http://schemas.openxmlformats.org/officeDocument/2006/relationships" id="261" r:id="R82d783cd484b4a15"/>
    <p:sldId xmlns:r="http://schemas.openxmlformats.org/officeDocument/2006/relationships" id="262" r:id="R9a84c5aeaf204415"/>
    <p:sldId xmlns:r="http://schemas.openxmlformats.org/officeDocument/2006/relationships" id="263" r:id="R3fd42e2bd907451d"/>
    <p:sldId xmlns:r="http://schemas.openxmlformats.org/officeDocument/2006/relationships" id="264" r:id="R56aa797fddb04667"/>
    <p:sldId xmlns:r="http://schemas.openxmlformats.org/officeDocument/2006/relationships" id="265" r:id="Re7fb72f0f1624fe4"/>
    <p:sldId xmlns:r="http://schemas.openxmlformats.org/officeDocument/2006/relationships" id="266" r:id="R37e2b7e3156645f0"/>
    <p:sldId xmlns:r="http://schemas.openxmlformats.org/officeDocument/2006/relationships" id="267" r:id="R6d3eaa8e89434bd3"/>
    <p:sldId xmlns:r="http://schemas.openxmlformats.org/officeDocument/2006/relationships" id="268" r:id="R2f4321c175ec42e0"/>
    <p:sldId xmlns:r="http://schemas.openxmlformats.org/officeDocument/2006/relationships" id="269" r:id="R89297b7be1604d22"/>
    <p:sldId xmlns:r="http://schemas.openxmlformats.org/officeDocument/2006/relationships" id="270" r:id="R0244c22b36ff44e8"/>
    <p:sldId xmlns:r="http://schemas.openxmlformats.org/officeDocument/2006/relationships" id="271" r:id="R2e359856cb8948b6"/>
    <p:sldId xmlns:r="http://schemas.openxmlformats.org/officeDocument/2006/relationships" id="272" r:id="R5350d4bd554d4bf1"/>
    <p:sldId xmlns:r="http://schemas.openxmlformats.org/officeDocument/2006/relationships" id="273" r:id="Rf914f8105e0d482c"/>
    <p:sldId xmlns:r="http://schemas.openxmlformats.org/officeDocument/2006/relationships" id="274" r:id="R78c79d6e556b400d"/>
    <p:sldId xmlns:r="http://schemas.openxmlformats.org/officeDocument/2006/relationships" id="275" r:id="R66660b7576f849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9998e7b4c74929" /><Relationship Type="http://schemas.openxmlformats.org/officeDocument/2006/relationships/slideMaster" Target="/ppt/slideMasters/slideMaster1.xml" Id="R00ff31a822e34e87" /><Relationship Type="http://schemas.openxmlformats.org/officeDocument/2006/relationships/notesMaster" Target="/ppt/notesMasters/notesMaster1.xml" Id="Ra5ceec91c2054d16" /><Relationship Type="http://schemas.openxmlformats.org/officeDocument/2006/relationships/presProps" Target="/ppt/presProps.xml" Id="R50464a2bd0944228" /><Relationship Type="http://schemas.openxmlformats.org/officeDocument/2006/relationships/tableStyles" Target="/ppt/tableStyles.xml" Id="R11eb5e5593c44330" /><Relationship Type="http://schemas.openxmlformats.org/officeDocument/2006/relationships/slide" Target="/ppt/slides/slide1.xml" Id="Red46bb30c35b425b" /><Relationship Type="http://schemas.openxmlformats.org/officeDocument/2006/relationships/slide" Target="/ppt/slides/slide2.xml" Id="Rf0ec208e775c4b4a" /><Relationship Type="http://schemas.openxmlformats.org/officeDocument/2006/relationships/slide" Target="/ppt/slides/slide3.xml" Id="Rb676f1890ddb4906" /><Relationship Type="http://schemas.openxmlformats.org/officeDocument/2006/relationships/slide" Target="/ppt/slides/slide4.xml" Id="R5179e1c50bc14a65" /><Relationship Type="http://schemas.openxmlformats.org/officeDocument/2006/relationships/slide" Target="/ppt/slides/slide5.xml" Id="Rb2073d0781e2414c" /><Relationship Type="http://schemas.openxmlformats.org/officeDocument/2006/relationships/slide" Target="/ppt/slides/slide6.xml" Id="R82d783cd484b4a15" /><Relationship Type="http://schemas.openxmlformats.org/officeDocument/2006/relationships/slide" Target="/ppt/slides/slide7.xml" Id="R9a84c5aeaf204415" /><Relationship Type="http://schemas.openxmlformats.org/officeDocument/2006/relationships/slide" Target="/ppt/slides/slide8.xml" Id="R3fd42e2bd907451d" /><Relationship Type="http://schemas.openxmlformats.org/officeDocument/2006/relationships/slide" Target="/ppt/slides/slide9.xml" Id="R56aa797fddb04667" /><Relationship Type="http://schemas.openxmlformats.org/officeDocument/2006/relationships/slide" Target="/ppt/slides/slide10.xml" Id="Re7fb72f0f1624fe4" /><Relationship Type="http://schemas.openxmlformats.org/officeDocument/2006/relationships/slide" Target="/ppt/slides/slide11.xml" Id="R37e2b7e3156645f0" /><Relationship Type="http://schemas.openxmlformats.org/officeDocument/2006/relationships/slide" Target="/ppt/slides/slide12.xml" Id="R6d3eaa8e89434bd3" /><Relationship Type="http://schemas.openxmlformats.org/officeDocument/2006/relationships/slide" Target="/ppt/slides/slide13.xml" Id="R2f4321c175ec42e0" /><Relationship Type="http://schemas.openxmlformats.org/officeDocument/2006/relationships/slide" Target="/ppt/slides/slide14.xml" Id="R89297b7be1604d22" /><Relationship Type="http://schemas.openxmlformats.org/officeDocument/2006/relationships/slide" Target="/ppt/slides/slide15.xml" Id="R0244c22b36ff44e8" /><Relationship Type="http://schemas.openxmlformats.org/officeDocument/2006/relationships/slide" Target="/ppt/slides/slide16.xml" Id="R2e359856cb8948b6" /><Relationship Type="http://schemas.openxmlformats.org/officeDocument/2006/relationships/slide" Target="/ppt/slides/slide17.xml" Id="R5350d4bd554d4bf1" /><Relationship Type="http://schemas.openxmlformats.org/officeDocument/2006/relationships/slide" Target="/ppt/slides/slide18.xml" Id="Rf914f8105e0d482c" /><Relationship Type="http://schemas.openxmlformats.org/officeDocument/2006/relationships/slide" Target="/ppt/slides/slide19.xml" Id="R78c79d6e556b400d" /><Relationship Type="http://schemas.openxmlformats.org/officeDocument/2006/relationships/slide" Target="/ppt/slides/slide20.xml" Id="R66660b7576f8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8aa869080e48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5720cb5348435c" /><Relationship Type="http://schemas.openxmlformats.org/officeDocument/2006/relationships/notesMaster" Target="/ppt/notesMasters/notesMaster1.xml" Id="R6fa301f28a2b45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7af0fa61d24c43" /><Relationship Type="http://schemas.openxmlformats.org/officeDocument/2006/relationships/notesMaster" Target="/ppt/notesMasters/notesMaster1.xml" Id="R4cb996788add4b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624701c194b07" /><Relationship Type="http://schemas.openxmlformats.org/officeDocument/2006/relationships/notesMaster" Target="/ppt/notesMasters/notesMaster1.xml" Id="R9befa5f1631549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d102798ba946f1" /><Relationship Type="http://schemas.openxmlformats.org/officeDocument/2006/relationships/notesMaster" Target="/ppt/notesMasters/notesMaster1.xml" Id="Rbb16cffa41fb47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f35caaec77477e" /><Relationship Type="http://schemas.openxmlformats.org/officeDocument/2006/relationships/notesMaster" Target="/ppt/notesMasters/notesMaster1.xml" Id="R00a7f06abe0042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6c9b920be14311" /><Relationship Type="http://schemas.openxmlformats.org/officeDocument/2006/relationships/notesMaster" Target="/ppt/notesMasters/notesMaster1.xml" Id="R55f81158a2ab44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4ca57d27ef480d" /><Relationship Type="http://schemas.openxmlformats.org/officeDocument/2006/relationships/notesMaster" Target="/ppt/notesMasters/notesMaster1.xml" Id="R6eee7d08575249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37080930f04abc" /><Relationship Type="http://schemas.openxmlformats.org/officeDocument/2006/relationships/notesMaster" Target="/ppt/notesMasters/notesMaster1.xml" Id="R40ac12285a6043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3e2ca73d164e2d" /><Relationship Type="http://schemas.openxmlformats.org/officeDocument/2006/relationships/notesMaster" Target="/ppt/notesMasters/notesMaster1.xml" Id="R6066df42745a4f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fe600eae244dbc" /><Relationship Type="http://schemas.openxmlformats.org/officeDocument/2006/relationships/notesMaster" Target="/ppt/notesMasters/notesMaster1.xml" Id="R9ff5a00333bf4e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d6d6d1587545d9" /><Relationship Type="http://schemas.openxmlformats.org/officeDocument/2006/relationships/notesMaster" Target="/ppt/notesMasters/notesMaster1.xml" Id="R19a4d19c75364f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81b1892bb44c69" /><Relationship Type="http://schemas.openxmlformats.org/officeDocument/2006/relationships/notesMaster" Target="/ppt/notesMasters/notesMaster1.xml" Id="R32063d26b80d4d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2c3425aa8e4150" /><Relationship Type="http://schemas.openxmlformats.org/officeDocument/2006/relationships/notesMaster" Target="/ppt/notesMasters/notesMaster1.xml" Id="R24703f859ac840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a4941544044344" /><Relationship Type="http://schemas.openxmlformats.org/officeDocument/2006/relationships/notesMaster" Target="/ppt/notesMasters/notesMaster1.xml" Id="R5c57423d722442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5f56ef5ec2474b" /><Relationship Type="http://schemas.openxmlformats.org/officeDocument/2006/relationships/notesMaster" Target="/ppt/notesMasters/notesMaster1.xml" Id="R851f6c2d245646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ff9a47138b415a" /><Relationship Type="http://schemas.openxmlformats.org/officeDocument/2006/relationships/notesMaster" Target="/ppt/notesMasters/notesMaster1.xml" Id="R4655a06504d84a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5dfad2314c4254" /><Relationship Type="http://schemas.openxmlformats.org/officeDocument/2006/relationships/notesMaster" Target="/ppt/notesMasters/notesMaster1.xml" Id="R9c90105cd2344c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ec081e99de4e06" /><Relationship Type="http://schemas.openxmlformats.org/officeDocument/2006/relationships/notesMaster" Target="/ppt/notesMasters/notesMaster1.xml" Id="R349380fea3684a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9bca88865f4f81" /><Relationship Type="http://schemas.openxmlformats.org/officeDocument/2006/relationships/notesMaster" Target="/ppt/notesMasters/notesMaster1.xml" Id="Rd152410b876d41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12bc3ae5d849e8" /><Relationship Type="http://schemas.openxmlformats.org/officeDocument/2006/relationships/notesMaster" Target="/ppt/notesMasters/notesMaster1.xml" Id="Rb8ece25e70f746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- Internal synthetic project source: Data/project_metadata.csv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Data/annual_pnl.csv</a:t>
            </a:r>
          </a:p>
          <a:p xmlns:a="http://schemas.openxmlformats.org/drawingml/2006/main">
            <a:r>
              <a:t>- Internal synthetic project source: Data/cash_flow_summary.csv</a:t>
            </a:r>
          </a:p>
          <a:p xmlns:a="http://schemas.openxmlformats.org/drawingml/2006/main">
            <a:r>
              <a:t>- Internal synthetic project source: Data/forecast_model_comparison.csv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Docs/executive_summary.md</a:t>
            </a:r>
          </a:p>
          <a:p xmlns:a="http://schemas.openxmlformats.org/drawingml/2006/main">
            <a:r>
              <a:t>- Internal synthetic project source: Docs/methodology.md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Data/project_metadata.csv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Data/fact_actuals.csv</a:t>
            </a:r>
          </a:p>
          <a:p xmlns:a="http://schemas.openxmlformats.org/drawingml/2006/main">
            <a:r>
              <a:t>- Internal synthetic project source: Data/fact_budget.csv</a:t>
            </a:r>
          </a:p>
          <a:p xmlns:a="http://schemas.openxmlformats.org/drawingml/2006/main">
            <a:r>
              <a:t>- Internal synthetic project source: Data/fact_forecast.csv</a:t>
            </a:r>
          </a:p>
          <a:p xmlns:a="http://schemas.openxmlformats.org/drawingml/2006/main">
            <a:r>
              <a:t>- Internal synthetic project source: Data/fact_scenario.csv</a:t>
            </a:r>
          </a:p>
          <a:p xmlns:a="http://schemas.openxmlformats.org/drawingml/2006/main">
            <a:r>
              <a:t>- Internal synthetic project source: Data/monte_carlo_simulations.csv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Python/src/fpa_system/run_pipeline.py</a:t>
            </a:r>
          </a:p>
          <a:p xmlns:a="http://schemas.openxmlformats.org/drawingml/2006/main">
            <a:r>
              <a:t>- Internal synthetic project source: SQL/schema.sql</a:t>
            </a:r>
          </a:p>
          <a:p xmlns:a="http://schemas.openxmlformats.org/drawingml/2006/main">
            <a:r>
              <a:t>- Internal synthetic project source: PowerBI/Integrated_FPA_PBIP</a:t>
            </a:r>
          </a:p>
          <a:p xmlns:a="http://schemas.openxmlformats.org/drawingml/2006/main">
            <a:r>
              <a:t>- Internal synthetic project source: Excel/Integrated_FP&amp;A_Budgeting_Forecasting_Scenario_Planning_Model.xlsx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PowerBI/Integrated_FPA_Measures.dax</a:t>
            </a:r>
          </a:p>
          <a:p xmlns:a="http://schemas.openxmlformats.org/drawingml/2006/main">
            <a:r>
              <a:t>- Internal synthetic project source: Data/validation_report.json</a:t>
            </a:r>
          </a:p>
          <a:p xmlns:a="http://schemas.openxmlformats.org/drawingml/2006/main">
            <a:r>
              <a:t>- Internal synthetic project source: Python/tests/test_financial_controls.py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Data/annual_pnl.csv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Data/business_unit_performance.csv</a:t>
            </a:r>
          </a:p>
          <a:p xmlns:a="http://schemas.openxmlformats.org/drawingml/2006/main">
            <a:r>
              <a:t>- Internal synthetic project source: Data/fact_operational_drivers.csv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Data/annual_pnl.csv</a:t>
            </a:r>
          </a:p>
          <a:p xmlns:a="http://schemas.openxmlformats.org/drawingml/2006/main">
            <a:r>
              <a:t>- Internal synthetic project source: Data/department_performance.csv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Data/variance_analysis.csv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Data/variance_analysis.csv</a:t>
            </a:r>
          </a:p>
          <a:p xmlns:a="http://schemas.openxmlformats.org/drawingml/2006/main">
            <a:r>
              <a:t>- Internal synthetic project source: Data/forecast_bridge.csv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Data/monthly_kpi_dashboard.csv</a:t>
            </a:r>
          </a:p>
          <a:p xmlns:a="http://schemas.openxmlformats.org/drawingml/2006/main">
            <a:r>
              <a:t>- Internal synthetic project source: Data/fact_forecast.csv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Data/forecast_model_comparison.csv</a:t>
            </a:r>
          </a:p>
          <a:p xmlns:a="http://schemas.openxmlformats.org/drawingml/2006/main">
            <a:r>
              <a:t>- Internal synthetic project source: Data/forecast_backtest.csv</a:t>
            </a:r>
          </a:p>
          <a:p xmlns:a="http://schemas.openxmlformats.org/drawingml/2006/main">
            <a:r>
              <a:t>- Internal synthetic project source: Docs/forecast-model-governance.md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Data/cash_flow_summary.csv</a:t>
            </a:r>
          </a:p>
          <a:p xmlns:a="http://schemas.openxmlformats.org/drawingml/2006/main">
            <a:r>
              <a:t>- Internal synthetic project source: Data/fact_cash_flow.csv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Data/fact_working_capital.csv</a:t>
            </a:r>
          </a:p>
          <a:p xmlns:a="http://schemas.openxmlformats.org/drawingml/2006/main">
            <a:r>
              <a:t>- Internal synthetic project source: Data/scenario_summary.csv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Data/headcount_summary.csv</a:t>
            </a:r>
          </a:p>
          <a:p xmlns:a="http://schemas.openxmlformats.org/drawingml/2006/main">
            <a:r>
              <a:t>- Internal synthetic project source: Data/capex_summary.csv</a:t>
            </a:r>
          </a:p>
          <a:p xmlns:a="http://schemas.openxmlformats.org/drawingml/2006/main">
            <a:r>
              <a:t>- Internal synthetic project source: Data/department_performance.csv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Data/scenario_summary.csv</a:t>
            </a:r>
          </a:p>
          <a:p xmlns:a="http://schemas.openxmlformats.org/drawingml/2006/main">
            <a:r>
              <a:t>- Internal synthetic project source: Data/scenario_monthly_pnl.csv</a:t>
            </a:r>
          </a:p>
          <a:p xmlns:a="http://schemas.openxmlformats.org/drawingml/2006/main">
            <a:r>
              <a:t>- Internal synthetic project source: Data/scenario_cash_flow.csv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Data/risk_summary.csv</a:t>
            </a:r>
          </a:p>
          <a:p xmlns:a="http://schemas.openxmlformats.org/drawingml/2006/main">
            <a:r>
              <a:t>- Internal synthetic project source: Data/monte_carlo_simulations.csv</a:t>
            </a:r>
          </a:p>
          <a:p xmlns:a="http://schemas.openxmlformats.org/drawingml/2006/main">
            <a:r>
              <a:t>- Internal synthetic project source: Data/management_insights.csv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a1d9abcee40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623f1384a144fa" /><Relationship Type="http://schemas.openxmlformats.org/officeDocument/2006/relationships/slideLayout" Target="/ppt/slideLayouts/slideLayout1.xml" Id="Ra8099e0b9e0a4a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099e0b9e0a4a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6b47488c34130" /><Relationship Type="http://schemas.openxmlformats.org/officeDocument/2006/relationships/notesSlide" Target="/ppt/notesSlides/notesSlide1.xml" Id="R1d9b22e46fbd44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579d3689f4ad2" /><Relationship Type="http://schemas.openxmlformats.org/officeDocument/2006/relationships/notesSlide" Target="/ppt/notesSlides/notesSlide2.xml" Id="Re411d4ef6db541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d9e36d7e041f6" /><Relationship Type="http://schemas.openxmlformats.org/officeDocument/2006/relationships/notesSlide" Target="/ppt/notesSlides/notesSlide3.xml" Id="R29ee784d3fda4f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e30e2ddb74d6e" /><Relationship Type="http://schemas.openxmlformats.org/officeDocument/2006/relationships/notesSlide" Target="/ppt/notesSlides/notesSlide4.xml" Id="R9b2b05a4bcd44e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28155c4114d47" /><Relationship Type="http://schemas.openxmlformats.org/officeDocument/2006/relationships/notesSlide" Target="/ppt/notesSlides/notesSlide5.xml" Id="Rd47142be9d5f41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ce359cb7d4e0f" /><Relationship Type="http://schemas.openxmlformats.org/officeDocument/2006/relationships/notesSlide" Target="/ppt/notesSlides/notesSlide6.xml" Id="R2f087c0aeb8a41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b8c3708e64222" /><Relationship Type="http://schemas.openxmlformats.org/officeDocument/2006/relationships/notesSlide" Target="/ppt/notesSlides/notesSlide7.xml" Id="Rcb24d2dc18124f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f9814a1f9410a" /><Relationship Type="http://schemas.openxmlformats.org/officeDocument/2006/relationships/chart" Target="/ppt/slides/charts/chart1.xml" Id="R6755964a5d674ed8" /><Relationship Type="http://schemas.openxmlformats.org/officeDocument/2006/relationships/notesSlide" Target="/ppt/notesSlides/notesSlide8.xml" Id="R6be03dbfc4934e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d4461e7b14096" /><Relationship Type="http://schemas.openxmlformats.org/officeDocument/2006/relationships/chart" Target="/ppt/slides/charts/chart2.xml" Id="R78db87583bc5439c" /><Relationship Type="http://schemas.openxmlformats.org/officeDocument/2006/relationships/notesSlide" Target="/ppt/notesSlides/notesSlide9.xml" Id="R185d8acd51784d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bb454d2e240bd" /><Relationship Type="http://schemas.openxmlformats.org/officeDocument/2006/relationships/chart" Target="/ppt/slides/charts/chart3.xml" Id="Rbe1e4e21bb604bff" /><Relationship Type="http://schemas.openxmlformats.org/officeDocument/2006/relationships/notesSlide" Target="/ppt/notesSlides/notesSlide10.xml" Id="Rfbb9faf3686e43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bc6e7fdad4cff" /><Relationship Type="http://schemas.openxmlformats.org/officeDocument/2006/relationships/chart" Target="/ppt/slides/charts/chart4.xml" Id="Ra62cf3933a51452d" /><Relationship Type="http://schemas.openxmlformats.org/officeDocument/2006/relationships/notesSlide" Target="/ppt/notesSlides/notesSlide11.xml" Id="R1e3a3bd6adc644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04868b3ca4445" /><Relationship Type="http://schemas.openxmlformats.org/officeDocument/2006/relationships/notesSlide" Target="/ppt/notesSlides/notesSlide12.xml" Id="R811df8c3efea46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5874698364610" /><Relationship Type="http://schemas.openxmlformats.org/officeDocument/2006/relationships/chart" Target="/ppt/slides/charts/chart5.xml" Id="R539d244b96f945a2" /><Relationship Type="http://schemas.openxmlformats.org/officeDocument/2006/relationships/notesSlide" Target="/ppt/notesSlides/notesSlide13.xml" Id="Reef2ce8bf28040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8319af5c2485f" /><Relationship Type="http://schemas.openxmlformats.org/officeDocument/2006/relationships/notesSlide" Target="/ppt/notesSlides/notesSlide14.xml" Id="R82d3bbbc2f3347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384c85b8048ab" /><Relationship Type="http://schemas.openxmlformats.org/officeDocument/2006/relationships/chart" Target="/ppt/slides/charts/chart6.xml" Id="Rfb6ed5434ece4c55" /><Relationship Type="http://schemas.openxmlformats.org/officeDocument/2006/relationships/notesSlide" Target="/ppt/notesSlides/notesSlide15.xml" Id="R07974ab6519943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39974da254108" /><Relationship Type="http://schemas.openxmlformats.org/officeDocument/2006/relationships/chart" Target="/ppt/slides/charts/chart7.xml" Id="R117f9198c72b4436" /><Relationship Type="http://schemas.openxmlformats.org/officeDocument/2006/relationships/notesSlide" Target="/ppt/notesSlides/notesSlide16.xml" Id="Ra0fb4eeb763b43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93f22c3044d70" /><Relationship Type="http://schemas.openxmlformats.org/officeDocument/2006/relationships/chart" Target="/ppt/slides/charts/chart8.xml" Id="R795908f64fcc49c0" /><Relationship Type="http://schemas.openxmlformats.org/officeDocument/2006/relationships/notesSlide" Target="/ppt/notesSlides/notesSlide17.xml" Id="R8636b30797bc43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e8288d8c94830" /><Relationship Type="http://schemas.openxmlformats.org/officeDocument/2006/relationships/chart" Target="/ppt/slides/charts/chart9.xml" Id="R89f720f96bda40ae" /><Relationship Type="http://schemas.openxmlformats.org/officeDocument/2006/relationships/notesSlide" Target="/ppt/notesSlides/notesSlide18.xml" Id="Rcd14adb1d31043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8d56d70f54b43" /><Relationship Type="http://schemas.openxmlformats.org/officeDocument/2006/relationships/notesSlide" Target="/ppt/notesSlides/notesSlide19.xml" Id="Rff5a83f48db64a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2977c8f534ff1" /><Relationship Type="http://schemas.openxmlformats.org/officeDocument/2006/relationships/notesSlide" Target="/ppt/notesSlides/notesSlide20.xml" Id="R0cab8b3ecb0542b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Gelir (₺M)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4"/>
          </c:marker>
          <c:cat>
            <c:numLit>
              <c:formatCode>General</c:formatCode>
              <c:ptCount val="4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</c:v>
              </c:pt>
            </c:numLit>
          </c:cat>
          <c:val>
            <c:numLit>
              <c:formatCode>0</c:formatCode>
              <c:ptCount val="4"/>
              <c:pt idx="0">
                <c:v>1255.27021627</c:v>
              </c:pt>
              <c:pt idx="1">
                <c:v>1414.6112958499998</c:v>
              </c:pt>
              <c:pt idx="2">
                <c:v>1611.0232288299999</c:v>
              </c:pt>
              <c:pt idx="3">
                <c:v>1790.8121778</c:v>
              </c:pt>
            </c:numLit>
          </c:val>
        </c:ser>
        <c:ser>
          <c:idx val="1"/>
          <c:order val="1"/>
          <c:tx>
            <c:v>EBITDA (₺M)</c:v>
          </c:tx>
          <c:spPr>
            <a:ln xmlns:a="http://schemas.openxmlformats.org/drawingml/2006/main" w="28575">
              <a:solidFill>
                <a:srgbClr val="16A34A"/>
              </a:solidFill>
              <a:prstDash val="solid"/>
            </a:ln>
          </c:spPr>
          <c:marker>
            <c:symbol val="circle"/>
            <c:size val="4"/>
          </c:marker>
          <c:cat>
            <c:numLit>
              <c:formatCode>General</c:formatCode>
              <c:ptCount val="4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</c:v>
              </c:pt>
            </c:numLit>
          </c:cat>
          <c:val>
            <c:numLit>
              <c:formatCode>0</c:formatCode>
              <c:ptCount val="4"/>
              <c:pt idx="0">
                <c:v>119.16142068</c:v>
              </c:pt>
              <c:pt idx="1">
                <c:v>122.88672986000002</c:v>
              </c:pt>
              <c:pt idx="2">
                <c:v>142.34295502999998</c:v>
              </c:pt>
              <c:pt idx="3">
                <c:v>164.38105140000005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FY2026 Gelir (₺M)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Dijital Ticaret</c:v>
              </c:pt>
              <c:pt idx="1">
                <c:v>Perakende Mağazalar</c:v>
              </c:pt>
              <c:pt idx="2">
                <c:v>Toptan Satış</c:v>
              </c:pt>
              <c:pt idx="3">
                <c:v>Abonelik Hizmetleri</c:v>
              </c:pt>
              <c:pt idx="4">
                <c:v>Shared Services</c:v>
              </c:pt>
            </c:strLit>
          </c:cat>
          <c:val>
            <c:numLit>
              <c:formatCode>0</c:formatCode>
              <c:ptCount val="5"/>
              <c:pt idx="0">
                <c:v>788.3414931200001</c:v>
              </c:pt>
              <c:pt idx="1">
                <c:v>461.13945636999995</c:v>
              </c:pt>
              <c:pt idx="2">
                <c:v>435.79595927</c:v>
              </c:pt>
              <c:pt idx="3">
                <c:v>105.53526903999999</c:v>
              </c:pt>
              <c:pt idx="4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FY2026 Tahmin (₺M)</c:v>
          </c:tx>
          <c:spPr>
            <a:solidFill xmlns:a="http://schemas.openxmlformats.org/drawingml/2006/main">
              <a:srgbClr val="D97706"/>
            </a:solidFill>
          </c:spPr>
          <c:cat>
            <c:strLit>
              <c:ptCount val="5"/>
              <c:pt idx="0">
                <c:v>Satışların Maliyeti</c:v>
              </c:pt>
              <c:pt idx="1">
                <c:v>Faaliyet Gideri</c:v>
              </c:pt>
              <c:pt idx="2">
                <c:v>Amortisman</c:v>
              </c:pt>
              <c:pt idx="3">
                <c:v>Faiz</c:v>
              </c:pt>
              <c:pt idx="4">
                <c:v>Vergi</c:v>
              </c:pt>
            </c:strLit>
          </c:cat>
          <c:val>
            <c:numLit>
              <c:formatCode>0</c:formatCode>
              <c:ptCount val="5"/>
              <c:pt idx="0">
                <c:v>885.89735252</c:v>
              </c:pt>
              <c:pt idx="1">
                <c:v>740.53377388</c:v>
              </c:pt>
              <c:pt idx="2">
                <c:v>15.506250079999997</c:v>
              </c:pt>
              <c:pt idx="3">
                <c:v>5.71957344</c:v>
              </c:pt>
              <c:pt idx="4">
                <c:v>35.788806990000005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Gerçekleşen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Gelir</c:v>
              </c:pt>
              <c:pt idx="1">
                <c:v>Brüt Kâr</c:v>
              </c:pt>
              <c:pt idx="2">
                <c:v>Faaliyet Gideri</c:v>
              </c:pt>
              <c:pt idx="3">
                <c:v>EBITDA</c:v>
              </c:pt>
              <c:pt idx="4">
                <c:v>Net Kâr</c:v>
              </c:pt>
            </c:strLit>
          </c:cat>
          <c:val>
            <c:numLit>
              <c:formatCode>0</c:formatCode>
              <c:ptCount val="5"/>
              <c:pt idx="0">
                <c:v>835.95805073</c:v>
              </c:pt>
              <c:pt idx="1">
                <c:v>420.24212748</c:v>
              </c:pt>
              <c:pt idx="2">
                <c:v>363.20367585</c:v>
              </c:pt>
              <c:pt idx="3">
                <c:v>57.038451630000004</c:v>
              </c:pt>
              <c:pt idx="4">
                <c:v>35.14281844</c:v>
              </c:pt>
            </c:numLit>
          </c:val>
        </c:ser>
        <c:ser>
          <c:idx val="1"/>
          <c:order val="1"/>
          <c:tx>
            <c:v>Bütçe</c:v>
          </c:tx>
          <c:spPr>
            <a:solidFill xmlns:a="http://schemas.openxmlformats.org/drawingml/2006/main">
              <a:srgbClr val="D8E0EA"/>
            </a:solidFill>
          </c:spPr>
          <c:cat>
            <c:strLit>
              <c:ptCount val="5"/>
              <c:pt idx="0">
                <c:v>Gelir</c:v>
              </c:pt>
              <c:pt idx="1">
                <c:v>Brüt Kâr</c:v>
              </c:pt>
              <c:pt idx="2">
                <c:v>Faaliyet Gideri</c:v>
              </c:pt>
              <c:pt idx="3">
                <c:v>EBITDA</c:v>
              </c:pt>
              <c:pt idx="4">
                <c:v>Net Kâr</c:v>
              </c:pt>
            </c:strLit>
          </c:cat>
          <c:val>
            <c:numLit>
              <c:formatCode>0</c:formatCode>
              <c:ptCount val="5"/>
              <c:pt idx="0">
                <c:v>849.20110258</c:v>
              </c:pt>
              <c:pt idx="1">
                <c:v>433.60233167</c:v>
              </c:pt>
              <c:pt idx="2">
                <c:v>381.70543249</c:v>
              </c:pt>
              <c:pt idx="3">
                <c:v>51.89689918</c:v>
              </c:pt>
              <c:pt idx="4">
                <c:v>31.45276455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Rolling Forecast (₺M)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124.15170402</c:v>
              </c:pt>
              <c:pt idx="1">
                <c:v>127.34601756</c:v>
              </c:pt>
              <c:pt idx="2">
                <c:v>140.67192072999998</c:v>
              </c:pt>
              <c:pt idx="3">
                <c:v>146.83694599</c:v>
              </c:pt>
              <c:pt idx="4">
                <c:v>147.50381466</c:v>
              </c:pt>
              <c:pt idx="5">
                <c:v>149.44764777</c:v>
              </c:pt>
              <c:pt idx="6">
                <c:v>145.25930169999998</c:v>
              </c:pt>
              <c:pt idx="7">
                <c:v>141.41465324</c:v>
              </c:pt>
              <c:pt idx="8">
                <c:v>156.14103014</c:v>
              </c:pt>
              <c:pt idx="9">
                <c:v>162.19569739000002</c:v>
              </c:pt>
              <c:pt idx="10">
                <c:v>169.69751737</c:v>
              </c:pt>
              <c:pt idx="11">
                <c:v>180.14592722999998</c:v>
              </c:pt>
            </c:numLit>
          </c:val>
        </c:ser>
        <c:ser>
          <c:idx val="1"/>
          <c:order val="1"/>
          <c:tx>
            <c:v>Bütçe (₺M)</c:v>
          </c:tx>
          <c:spPr>
            <a:ln xmlns:a="http://schemas.openxmlformats.org/drawingml/2006/main" w="28575">
              <a:solidFill>
                <a:srgbClr val="D97706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123.35455284999999</c:v>
              </c:pt>
              <c:pt idx="1">
                <c:v>128.01089502</c:v>
              </c:pt>
              <c:pt idx="2">
                <c:v>145.50506318</c:v>
              </c:pt>
              <c:pt idx="3">
                <c:v>147.99680145</c:v>
              </c:pt>
              <c:pt idx="4">
                <c:v>150.11665496</c:v>
              </c:pt>
              <c:pt idx="5">
                <c:v>154.21713512</c:v>
              </c:pt>
              <c:pt idx="6">
                <c:v>145.97480799000002</c:v>
              </c:pt>
              <c:pt idx="7">
                <c:v>141.03261813999998</c:v>
              </c:pt>
              <c:pt idx="8">
                <c:v>160.77074397</c:v>
              </c:pt>
              <c:pt idx="9">
                <c:v>169.32750542</c:v>
              </c:pt>
              <c:pt idx="10">
                <c:v>179.39495583000001</c:v>
              </c:pt>
              <c:pt idx="11">
                <c:v>193.14499124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Tahmin Kapanış Nakdi (₺M)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248.47962308</c:v>
              </c:pt>
              <c:pt idx="1">
                <c:v>229.41647435</c:v>
              </c:pt>
              <c:pt idx="2">
                <c:v>233.08117614</c:v>
              </c:pt>
              <c:pt idx="3">
                <c:v>225.45752531</c:v>
              </c:pt>
              <c:pt idx="4">
                <c:v>236.41837757</c:v>
              </c:pt>
              <c:pt idx="5">
                <c:v>232.83276668000002</c:v>
              </c:pt>
              <c:pt idx="6">
                <c:v>249.28433859999998</c:v>
              </c:pt>
              <c:pt idx="7">
                <c:v>256.74082131</c:v>
              </c:pt>
              <c:pt idx="8">
                <c:v>238.15181138</c:v>
              </c:pt>
              <c:pt idx="9">
                <c:v>227.18670786</c:v>
              </c:pt>
              <c:pt idx="10">
                <c:v>223.85715248</c:v>
              </c:pt>
              <c:pt idx="11">
                <c:v>233.18235916</c:v>
              </c:pt>
            </c:numLit>
          </c:val>
        </c:ser>
        <c:ser>
          <c:idx val="1"/>
          <c:order val="1"/>
          <c:tx>
            <c:v>Bütçe Kapanış Nakdi (₺M)</c:v>
          </c:tx>
          <c:spPr>
            <a:ln xmlns:a="http://schemas.openxmlformats.org/drawingml/2006/main" w="28575">
              <a:solidFill>
                <a:srgbClr val="D97706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267.80195165</c:v>
              </c:pt>
              <c:pt idx="1">
                <c:v>247.79840685</c:v>
              </c:pt>
              <c:pt idx="2">
                <c:v>246.92948280000002</c:v>
              </c:pt>
              <c:pt idx="3">
                <c:v>244.47214419999997</c:v>
              </c:pt>
              <c:pt idx="4">
                <c:v>253.14860659</c:v>
              </c:pt>
              <c:pt idx="5">
                <c:v>248.52556508</c:v>
              </c:pt>
              <c:pt idx="6">
                <c:v>265.452711</c:v>
              </c:pt>
              <c:pt idx="7">
                <c:v>271.14286209</c:v>
              </c:pt>
              <c:pt idx="8">
                <c:v>251.01403484</c:v>
              </c:pt>
              <c:pt idx="9">
                <c:v>241.42384025</c:v>
              </c:pt>
              <c:pt idx="10">
                <c:v>238.11636257</c:v>
              </c:pt>
              <c:pt idx="11">
                <c:v>247.55063246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Nakit Dönüşüm Döngüsü (gün)</c:v>
          </c:tx>
          <c:spPr>
            <a:solidFill xmlns:a="http://schemas.openxmlformats.org/drawingml/2006/main">
              <a:srgbClr val="D97706"/>
            </a:solidFill>
          </c:spPr>
          <c:cat>
            <c:strLit>
              <c:ptCount val="4"/>
              <c:pt idx="0">
                <c:v>Yukarı Yönlü</c:v>
              </c:pt>
              <c:pt idx="1">
                <c:v>Baz</c:v>
              </c:pt>
              <c:pt idx="2">
                <c:v>Aşağı Yönlü</c:v>
              </c:pt>
              <c:pt idx="3">
                <c:v>Stres</c:v>
              </c:pt>
            </c:strLit>
          </c:cat>
          <c:val>
            <c:numLit>
              <c:formatCode>0</c:formatCode>
              <c:ptCount val="4"/>
              <c:pt idx="0">
                <c:v>36.85</c:v>
              </c:pt>
              <c:pt idx="1">
                <c:v>45.85</c:v>
              </c:pt>
              <c:pt idx="2">
                <c:v>59.85</c:v>
              </c:pt>
              <c:pt idx="3">
                <c:v>77.85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Faaliyet Gideri (₺M)</c:v>
          </c:tx>
          <c:spPr>
            <a:solidFill xmlns:a="http://schemas.openxmlformats.org/drawingml/2006/main">
              <a:srgbClr val="7C3AED"/>
            </a:solidFill>
          </c:spPr>
          <c:cat>
            <c:strLit>
              <c:ptCount val="5"/>
              <c:pt idx="0">
                <c:v>Sales</c:v>
              </c:pt>
              <c:pt idx="1">
                <c:v>Operations</c:v>
              </c:pt>
              <c:pt idx="2">
                <c:v>Technology</c:v>
              </c:pt>
              <c:pt idx="3">
                <c:v>Marketing</c:v>
              </c:pt>
              <c:pt idx="4">
                <c:v>Finance &amp; Corporate</c:v>
              </c:pt>
            </c:strLit>
          </c:cat>
          <c:val>
            <c:numLit>
              <c:formatCode>0</c:formatCode>
              <c:ptCount val="5"/>
              <c:pt idx="0">
                <c:v>281.16442868</c:v>
              </c:pt>
              <c:pt idx="1">
                <c:v>127.04603059</c:v>
              </c:pt>
              <c:pt idx="2">
                <c:v>112.88058725999998</c:v>
              </c:pt>
              <c:pt idx="3">
                <c:v>91.86497593000001</c:v>
              </c:pt>
              <c:pt idx="4">
                <c:v>85.75945208000002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EBITDA (₺M)</c:v>
          </c:tx>
          <c:spPr>
            <a:solidFill xmlns:a="http://schemas.openxmlformats.org/drawingml/2006/main">
              <a:srgbClr val="16A34A"/>
            </a:solidFill>
          </c:spPr>
          <c:cat>
            <c:strLit>
              <c:ptCount val="4"/>
              <c:pt idx="0">
                <c:v>Yukarı Yönlü</c:v>
              </c:pt>
              <c:pt idx="1">
                <c:v>Baz</c:v>
              </c:pt>
              <c:pt idx="2">
                <c:v>Aşağı Yönlü</c:v>
              </c:pt>
              <c:pt idx="3">
                <c:v>Stres</c:v>
              </c:pt>
            </c:strLit>
          </c:cat>
          <c:val>
            <c:numLit>
              <c:formatCode>0</c:formatCode>
              <c:ptCount val="4"/>
              <c:pt idx="0">
                <c:v>206.25580812</c:v>
              </c:pt>
              <c:pt idx="1">
                <c:v>164.38105140000002</c:v>
              </c:pt>
              <c:pt idx="2">
                <c:v>118.54125289</c:v>
              </c:pt>
              <c:pt idx="3">
                <c:v>71.29683487</c:v>
              </c:pt>
            </c:numLit>
          </c:val>
        </c:ser>
        <c:ser>
          <c:idx val="1"/>
          <c:order val="1"/>
          <c:tx>
            <c:v>Kapanış Nakdi (₺M)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Yukarı Yönlü</c:v>
              </c:pt>
              <c:pt idx="1">
                <c:v>Baz</c:v>
              </c:pt>
              <c:pt idx="2">
                <c:v>Aşağı Yönlü</c:v>
              </c:pt>
              <c:pt idx="3">
                <c:v>Stres</c:v>
              </c:pt>
            </c:strLit>
          </c:cat>
          <c:val>
            <c:numLit>
              <c:formatCode>0</c:formatCode>
              <c:ptCount val="4"/>
              <c:pt idx="0">
                <c:v>293.28697947</c:v>
              </c:pt>
              <c:pt idx="1">
                <c:v>245.62902581</c:v>
              </c:pt>
              <c:pt idx="2">
                <c:v>185.60080772</c:v>
              </c:pt>
              <c:pt idx="3">
                <c:v>115.87768392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4D7BA8-3413-4466-8606-1449E4F3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1FCDE-4321-4051-B6B0-501D2C0A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0"/>
            <a:ext cx="2905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723AE-D1D9-44A8-B42C-93DC7E46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FF"/>
                </a:solidFill>
              </a:defRPr>
            </a:pPr>
            <a:r>
              <a:rPr sz="900" b="1">
                <a:solidFill>
                  <a:srgbClr val="8FD8FF"/>
                </a:solidFill>
              </a:rPr>
              <a:t>ENTEGRE FP&amp;A | YÖNETİCİ PLANLAMA SİSTEMİ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4EF43-94A9-4D35-9CC8-31C512BA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Entegre FP&amp;A Bütçeleme,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Tahminleme ve Senaryo Planlama Sistemi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F41B6-3D45-49E3-8C15-47E6D0CF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6F2"/>
                </a:solidFill>
              </a:defRPr>
            </a:pPr>
            <a:r>
              <a:rPr sz="1425" b="0">
                <a:solidFill>
                  <a:srgbClr val="D9E6F2"/>
                </a:solidFill>
              </a:rPr>
              <a:t>Gerçekleşenler, bütçe, rolling forecast, likidite, operasyonel sürücüler ve riski tek yönetişimli platformda birleştiren finansal planlama çözümü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CA976-EDCA-40B9-BD45-C415F5E9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Murat Miraç Gedik  |  Profesyonel Portföy Projesi  |  Temmuz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96541-121B-4D58-80FD-F1FC55F1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6D8"/>
                </a:solidFill>
              </a:defRPr>
            </a:pPr>
            <a:r>
              <a:rPr sz="750" b="0">
                <a:solidFill>
                  <a:srgbClr val="B8C6D8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240805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DB8DC7-C662-4D5C-BF18-81D58502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1E3B6-5629-4D1E-8A78-C7BD9554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Yönetici Özeti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02662-E891-4B3D-9693-C5A39060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FY2026 karar görünümünü özetleyen dört temel gösterge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DC1A6-CBE3-46D4-AA74-E3ACF76E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3B4CB-ADDE-48EE-8081-78615155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80A56-4502-48F0-A375-EFA36EC8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628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615EA-8AA7-479E-803D-1C4B1E11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628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9A786-80F6-4C16-B92E-1E2B4283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FY2026 GELIR TAHMINI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69FCB-9EA8-4C2E-9F06-29A5E05B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₺1.79B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9BACD-6279-471F-B296-7543E8B2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-2.6% bütçeye göre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1B9B0-A195-4473-AA6E-A0E25591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76375"/>
            <a:ext cx="2628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AFC87-1482-480C-A591-849EF53C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76375"/>
            <a:ext cx="2628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D3AE2-1A0C-4C40-A881-AAE56997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049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EBITDA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7211B-48B1-4D99-BA83-A4C66FF2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90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₺164.4M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4F9A0-6E6C-4AD3-8065-FE250A1E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050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9.2% marj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FAB65-509B-477F-BA7A-75010A9D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2628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FDAF5-0CE2-4F01-AFA4-E5ED203E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2628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B9023-BB3C-4C25-A21D-DFEB2794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049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BAZ SENARYO KAPANIŞ NAKDI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7CE49-4D52-4D04-BF6E-5AB5D38E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90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A5E9"/>
                </a:solidFill>
              </a:defRPr>
            </a:pPr>
            <a:r>
              <a:rPr sz="2025" b="1">
                <a:solidFill>
                  <a:srgbClr val="0EA5E9"/>
                </a:solidFill>
              </a:rPr>
              <a:t>₺245.6M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255C8-E3B7-40DA-A226-0002EE01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050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₺236.3M minimum nakit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D6DA5-0F2E-4A73-864E-602C1CE0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76375"/>
            <a:ext cx="28194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DD2EC-324C-4777-BFCC-E40F6227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76375"/>
            <a:ext cx="2819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FCE79-22BC-49C9-AC67-FBB7D19B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049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TAHMIN DOĞRULUĞU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31FDA-E5E1-48CA-864C-556673F2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907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97.7%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50D84-F51B-4E2C-A447-F09853B1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050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 iş birimi modeli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9A5701-DDA5-4ABD-AEDD-0E9DCEF2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73342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F28E8-583F-44BB-B25E-80972F50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57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759FA3-2C6F-4363-BBE2-DFB191D4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Yönetim mesajı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41262-7A11-4C6D-B88C-ACE6FD7E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695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Gelir tahmini bütçenin 2.6% altında olsa da, faaliyet gideri disiplini EBITDA'yı bütçenin 3.5% üzerine taşıyor. Baz senaryo likiditeyi koruyor; asıl odak gelir açığını kapatırken marj kalitesini sürdürmek olmalı.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53C294-12F9-49F6-8E38-8D7EF808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37147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B9BBD-202A-4AFA-94C8-640A2126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57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9C6F1A-FA8E-42A4-BCCB-88B8D749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813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Karar öncelikleri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E4A9F0-FE42-4200-B753-D785FB3D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1. Dijital ve abonelik büyümesini koru</a:t>
            </a:r>
          </a:p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2. Perakende gelir açığını düzelt</a:t>
            </a:r>
          </a:p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3. İşletme sermayesi disiplinini güçlendir</a:t>
            </a:r>
          </a:p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4. Aylık rolling forecast ritmini işlet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FE12ED-9DBE-4294-9E1E-2FFA2265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962895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AE4CD-7121-4E1D-93FA-F3D762F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544F7-A9B1-4F8E-B100-60C0256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İş Problemi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8BF6F-0F9E-46F7-AA9A-C2F0BDAB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Dağınık planlama neden yavaş ve tutarsız karar üretir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36317-1CD6-4AAF-9B3F-0721192B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C3E92-E070-44EC-9EC7-C0F362EA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261C7-283E-42E6-81D0-B48970B5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CFF03-E959-4E13-9B3F-2A38C944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3EE7B-254E-49B6-A757-7BA5A56D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Parçalı veri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36196-F6A8-45C4-9213-72EAD9ED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5048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Finans, satış, insan kaynağı ve capex farklı tablolarda tutulduğunda tek gerçek görünüm kaybolur.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E3ABB-61D0-4E80-970A-1F6FBDB4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85900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9F8FE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B7ABE-E6B2-4AB4-9CE6-4519806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859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ACFA2-E78F-42D0-BA66-357E87B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4782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Statik bütçe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9E49C-4728-4D3C-A03D-C9C806D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62150"/>
            <a:ext cx="5048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Yıllık bütçe, değişen talep ve maliyet koşullarına tek başına yeterince hızlı yanıt vermez.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58C00-99EB-4EEC-B583-53FFC0DA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28357-8030-462A-9B9C-9AAEE2E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910CD-F619-4920-A579-587B3B3B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Nakit kör noktası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6032B-B54A-4925-AD41-25FECDC9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5048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Gelir ve kâr görünürken işletme sermayesi ile likidite riski geç fark edilebilir.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4B54A-B396-4CC3-A505-46506811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38525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D239D-E2FA-4C78-819A-4A99F2D4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38525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3F557-571B-4778-B0D5-2B2A41D4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Model riski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47937-92C2-41BD-86DB-E55C2582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14775"/>
            <a:ext cx="5048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Tahmin yöntemi ve varsayımlar yönetişimsizse plan güvenilirliğini kaybeder.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7DC61-E359-4FA4-9943-8DFFD56A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87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C4ABD-0E3A-4B19-B3D1-33264929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B73D3-9A11-4C4B-AC29-BEE97FC6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Temel soru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1C5FB2-95DA-4944-9705-3D44B77B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10706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Gerçekleşen performansı, ileri görünümü, nakdi ve riski aynı karar çerçevesinde nasıl yönetiriz?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0EF9C-B4A3-45CE-9862-A4F3E1E5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611341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519E9-29A5-467A-BC0E-4A9CC501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B67EA-7366-4996-8B25-BE419741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Hedefler ve Kapsam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E1D58-A62F-4ACE-AF3E-D1A02A4B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Performans yönetimi için birleşik çalışma modeli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DCCA8-2857-4DD4-B042-92B6F624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D5D12-3BCF-4B73-A92D-91CFD4E3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071EB-401B-4D22-9941-D829E393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98ABE-273E-4EB0-B75A-AB8B9CD2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9D3A0-138B-48DA-907A-8D186DA2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Gerçekleşen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FEB93-2A5B-4DB4-9592-C2D9250C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42 aylık finansal ve operasyonel geçmiş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87027-6AA8-4DA2-B625-F65885F4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14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270B8-8D18-448F-88FF-5C097185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8FE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57E05-BD12-45CB-80F1-161AC2A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B0D03-8AB8-4CCC-A4DD-B01566FA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Bütçe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8BE30-7919-4DF6-A37F-C81F716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FY2026 hedef ve departman planı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CA389-F436-411D-A777-B11E2E59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C79AB-F797-4C51-B084-34D9304C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0422B-458C-4958-BEAC-05F01722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2C5BE-B3F9-4028-82D3-EB016D1E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Rolling Forecast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CD88B-16E1-4A65-A7EB-1C244E0D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 aylık güncellenen ileri görünüm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401DC-44BD-43C4-A5E9-E40AC47B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14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E0AED-7D37-4C12-91E0-67FBDF88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4F74F-5AAD-473F-995F-4D460164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6AE7E-CFCB-4E41-B3F6-84CBD06F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Senaryo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9171E-B200-4286-BB70-BAB329EA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Yukarı, Baz, Aşağı, Stres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2E48A-4B1E-48BD-A93A-731E6E27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F35B5-0F68-460D-8171-7BA871D9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E6861-ECD0-41F2-834A-84FE06CE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30FCA-393B-4A0D-BBD1-84B40CE1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Karar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F82BA-4157-45CE-B025-84B2654F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KPI, aksiyon, sahiplik ve kontrol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349CD4-8533-4096-A066-C6676769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AF4DA4-2807-46D5-858F-EF97590F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501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P&amp;L, nakit akışı ve işletme sermayesini bağlamak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DE03F-3187-4CBE-A539-FEFF7BAF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F2A7BC-964F-4638-B54A-3B50999D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501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Bütçe sapmalarını sürücü bazında açıklamak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2F46A2-7321-4B6F-A42B-46E1F64F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58B39A-D627-46B8-AA9F-BB471D2A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01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Tahmin performansını geri testlerle ölçmek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3FA762-8FC5-4EC4-95B1-909FDFE7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24D56B-0D3F-4E57-993E-F23F0F6C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501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Yönetici ve planlama ekipleri için tekrar kullanılabilir teslimatlar üretmek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93C793-5710-4916-99F7-2F66BAFB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50673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36877B-0988-45FA-B472-D707DBCE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1A6D4E-2ACC-4F9F-BFE6-1A5767C6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00475"/>
            <a:ext cx="468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Teslimat kapsamı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B1E75D-F26F-4FBD-AE62-A1E2EAAE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6863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Python planlama motoru • SQL veri katmanı • 31 sayfalık Excel modeli • 11 sayfalık Power BI PBIP • Türkçe ve İngilizce sunum • Vektörel yönetici raporu • Teknik dokümantasyon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035981-9444-49D8-90F0-C2E7EE12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582639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CE7445-DA9F-4B8F-AE47-280D476E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A2A1A-1573-4157-94B5-4CD359EC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Veri Kapsamı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25688-3614-417D-ABCB-2F35E7F9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Finans, iş gücü, yatırım ve ticari performans sinyalleri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9232B-299C-429F-8D9F-5DBB6764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05FC9-1623-4202-B795-C0B2BE50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77B28-83D5-4108-B7F7-188D65B8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FC532-2119-4AF5-B392-592C31BD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5.325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F7C32-45F5-4E21-A7D5-0B11290C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Gerçekleşen muhasebe satırı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5A19E-2686-41D9-9A43-5A654064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2023–Haz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CB6FD-5645-4E44-98CA-6A8DB356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2875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287A5-8189-40C8-BCDF-D9BBC41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19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</a:defRPr>
            </a:pPr>
            <a:r>
              <a:rPr sz="2100" b="1">
                <a:solidFill>
                  <a:srgbClr val="0EA5E9"/>
                </a:solidFill>
              </a:rPr>
              <a:t>1.558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65BAF-AD20-4EF0-95CC-F81CDBD1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955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Bütçe satırı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6FFE8-0D61-4608-AD01-16A71E1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955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FY2026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9078F-F57A-4372-806A-ED1320B9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CB878-6F04-4833-AD8D-D61E67DD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9D8B"/>
                </a:solidFill>
              </a:defRPr>
            </a:pPr>
            <a:r>
              <a:rPr sz="2100" b="1">
                <a:solidFill>
                  <a:srgbClr val="0F9D8B"/>
                </a:solidFill>
              </a:rPr>
              <a:t>2.338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899F8-1194-450A-9FCA-2B4A47FD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Rolling forecast satırı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C3952-6918-48AF-878C-2ABEDC96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 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D790C-E743-4F4A-B247-7D3455B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CB608-123C-49FF-B5E5-3F7B3F3C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9.352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CC27D-AF1E-44D5-A46D-498E49D8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Senaryo satırı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4667E-3C05-4437-BDE8-3C2E6683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 vaka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726CA-9EE5-42A0-9CBE-E97AD490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0A146-BD03-4B29-B104-1639A778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81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5.000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46D593-D7A2-4A64-B13D-7D4551D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576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Monte Carlo koşusu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B4DA0-B617-4951-B772-D853E8D8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576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Risk dağılımı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FC79F-0EE9-4F0C-945A-A67C28EE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90875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F5F623-B3F0-45C2-8D3A-6D3CB088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8CCF86-205C-49A5-96F8-B709FA1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Maliyet merkezi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7FA631-FF3C-46DA-A3FB-5B8016E1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576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Departman × İş Birimi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02C9E6-BA30-4ACE-85F5-6BA26A5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087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EB81F6-FFA3-407D-AC9D-32EC06E5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D6173-9C0E-4527-AE1F-95BAEAAA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Tasarım ilkesi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34606-FBE6-4821-A8A4-1A48DB55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Her tablo ay, sürüm, iş birimi, departman ve hesap boyutlarıyla izlenebilir; bu yapı hem finansal uzlaşmayı hem de zaman zekâsını destekler.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B70935-6914-4544-BC6C-FE449541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420245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245779-F6A9-4E9B-9407-86F453AE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6A649-F8F9-4D1C-898D-88271CE1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Çözüm Mimarisi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CB7C8-5F64-4EB0-B73F-696DC910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Kaynak veriden yönetici aksiyonuna tekrarlanabilir akış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C2B85-D1EE-4130-9720-CDF21EEC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9C37A-AFBF-44C8-89D3-D9930866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FC198-7F8C-4549-84A7-0095A733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BE77D-2A80-4387-BFD2-4563AEAF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F3799-AF5C-4216-8014-A090BB16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Kaynak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E3CE4-BF2C-4306-A616-9D6D9C8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Sentetik ERP, CRM, İK ve capex verisi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4F385-CF63-437F-9EDF-E4D81054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19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8CABC-E4D1-4A1E-9A32-940AC248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8FE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04D03-0EB8-43C8-AB26-DB0DFE59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A9DEC-28C7-481F-AF5B-0C51DCE7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Dönüşüm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D9927-938F-494A-A7D0-A56499D9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Python üretim, kontrol ve tahmin motoru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4CAC8-B786-40C0-AEC2-A725DF72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19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60BD4-4568-4B8F-9116-4FE3440F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50393-D4C5-40F9-A3A9-FE63EADB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28FEF-3624-4259-A08F-29C5D75A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Depolama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32334-381A-4BEA-97AF-507DF2C8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CSV analitik katmanı ve SQLite veri tabanı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E58C2-EA34-4701-A595-B3CBD091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19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F23CD-B3E6-4F4C-9F0A-363D82C6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A6CA6-1D4A-46F1-A74A-639F3119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E9824-142C-4FBA-8B4E-9ADD4FC8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Modelleme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B2CDF-9A3E-40EB-8042-A3CD5BD9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Power Query, SQL, DAX ve semantik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75EF3-4816-4CAE-933E-33980F50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19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5F0CE-ADC5-4CD9-94AC-1F9FB2A7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7D442-5E06-4501-80AB-F876C4B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4ABCDD-3811-4F19-AFD6-EFBBB742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Tüketim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1CE10-036F-4138-BB2D-09366B67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Excel, Power BI, PDF ve PowerPoint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7FB1AC-0906-4342-B75B-67F845E2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429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8274A-CB80-4459-8595-2457624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D63D8D-4697-427A-9E87-3636A745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Tekrarlanabilirlik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6E4510-E331-425F-8747-2A50D28F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048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Tek komut veri üretir, modelleri çalıştırır, raporlama tablolarını yeniler ve kontrolleri tekrarlar.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A4014B-8065-43B9-85C8-1C0369A4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3429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57FCAD-F6D0-4CD3-8038-65D212BF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DC9B67-CC88-45A7-8CB5-D0C3C02D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8142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Denetlenebilirlik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48951B-1708-4B9D-915F-63B46E76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048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Sürüm, dönem durumu, kaynak sistem ve kontrol sonuçları veri hattında korunur.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7F96C3-74D3-4CD9-A2AB-9EC12B5F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7719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DD1A1C-F931-4BEA-96AC-3CD52271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86CE8A-B08D-483F-B623-33D5598F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81425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Taşınabilirlik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FA728F-9417-4B9F-9B07-FBA30DF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33909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PBIP veri modeli gömülü örnek veri kullanır; Excel ve SQLite bağımsız olarak incelenebilir.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52FAC7-D342-417F-B63B-91949BFA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058260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EE543E-DBB8-430F-AD70-E228FC9E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8B9EF-ABDE-4685-8B17-83FB4BE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Semantik Model ve Kontroller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BC846-DD3D-4F64-82B4-9250E131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Takvim merkezli, denetlenebilir finansal mantık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89E28-AE97-4FB3-BA98-EA3EA4DE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95F29-EF91-425B-8F98-05414357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65AB3-F62C-4ABB-9252-E4AC71DE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D8227-F905-4647-9C41-B6B43A2B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Takvim Merkezli Yıldız Şema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BC36F-2B3D-4296-A594-AF361E86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8BE72-48D7-4AAA-A681-53E17C9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dim_calendar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BAC40-1A06-4EBD-B9D1-DB3719D2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EB72D-39A6-46FA-8BC5-90957374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monthly_performance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3F603-385E-4520-99FB-F4A87F1F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003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6EDC4-3462-4A48-BA51-4623699E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4148E-43E5-48DB-BCE2-1A2AAE43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department_performance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95A61-9A80-476E-ACA0-1F03A7C9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148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11010-2FCC-4E3D-9F6C-021164AE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B9E13-0F04-420B-840B-71EE602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81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business_unit_performance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5B954-D0A0-41C2-9571-ECBF25B1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003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6CE56-7E3F-4D4D-901A-F8D9AEFA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576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55CE3-3F57-4C28-B898-23943DE4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95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scenario_summary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D112C-9097-4FFE-AF85-1F56D0B7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148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EA862-2571-47FA-B5EF-91DF3D74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Kontrol Kütüphanesi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71687-35F3-440C-8CC2-9EF8A386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750D0-FDEF-435E-81D0-62F6B320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P&amp;L denklemi uzlaşması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F30EDF-7ED5-4B10-89E2-FC694A1E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71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2D3406-FFAA-4FBD-A794-BA0507C7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Nakit akışı sürekliliği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5E35EB-C9EF-4547-9D3D-CE3D7635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CC132C-AC48-4A9B-A137-1FC317FE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Bilanço işletme sermayesi kontrolü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51A07-B683-4C62-A5FA-4B2FD5FA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9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85B8C-D36A-498C-804D-DA9E9F05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62375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Senaryo sıralaması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DE4F0-4EBB-4CD6-A475-B6B6F730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8BA5D6-FDD8-4F88-A158-7BE7E810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86250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Tahmin geri testleri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2A605A-6753-4D1E-9D10-B601CFDD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67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077343-495D-4313-A879-675B3F0F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10125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Kaynak–rapor satır uzlaşması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220BF2-EE2F-4243-B33A-95184AB7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3448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582474-B575-42D4-8837-0264527C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393E0C-8417-4961-AAF1-D71776C9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86375"/>
            <a:ext cx="306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</a:defRPr>
            </a:pPr>
            <a:r>
              <a:rPr sz="1200" b="1">
                <a:solidFill>
                  <a:srgbClr val="16A34A"/>
                </a:solidFill>
              </a:rPr>
              <a:t>17 / 17 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5FC6C2-63C7-45CB-8D0F-7E7C8F06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00700"/>
            <a:ext cx="3067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Finansal ve veri kalite kontrolleri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68978E-D91F-4E43-8058-9E7B81B1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758647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9E57C8-D1E8-4FFB-9DBB-5399F48A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E0D61-DF60-40A8-92DB-3B6BD3BB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Tarihsel Performans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8E7E5-7AE6-4A9B-A0DB-2D33E7AC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Büyüme sürerken kârlılık aktif yönetim gerektirdi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7D594-DABA-4351-B322-D45D232B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F807E-E526-4428-88C1-2FAA6FD9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71FAB-13A7-4E4D-8089-53B80ACB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620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7143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55964a5d674ed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4EFD1-1626-41D0-8E09-1756F691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62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531EF-7625-4A9B-9675-3E7E1CEE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3A93E-0792-4DBC-9F97-486609D0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5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2023–2025 GELIR CAGR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42C01-E09F-4EFA-ACA1-6BDCDA2C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13.3%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A480D-61BA-466E-8334-85FFCC6D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iki yıllık büyüme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88712-F603-4605-B896-C0C703F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162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26103-CD7F-4C92-85BF-85DA4376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12A05-731A-4608-80E9-AD457E53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FY2025 EBITDA MARJI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5EE37-FD8C-4782-95C8-7C663930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8.8%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FC1CA-2066-48EB-B5C3-3773464F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₺142.3M EBITDA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F6E7B-29A4-40B0-B060-116E1216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31623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301F8-7F86-444A-B2BE-DFE3DE7E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57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9250A-9944-474F-958D-8479C4B1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Yorum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D7FD2-0E01-43BD-ACD0-D6F563AF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292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Gelir ölçeği büyüdü; ancak marj 2023 seviyesinin altında kaldı. FY2026 planı büyümeyi maliyet disipliniyle dengelemeyi hedefliyor.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E9E42-A476-49D9-B88D-EFB4F7EF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344260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DB966-1C8B-40D1-A50B-15CA6A73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F2DE5-EBFC-4EBF-BE2A-EC030B61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Gelir Sürücüleri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7EDDF-AB86-40CF-A18E-D048D1D7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İş birimi karması büyüme görünümünü belirliyor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3F38E-F30D-4D1A-84CA-AB0D7870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19C37-84B6-462C-A9EB-BA421682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80F09-E16D-4680-A804-A9F45AED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6667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db87583bc5439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8478D-6BFE-465F-84B7-C0781550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EC8BC-F605-4E3A-9889-67713C05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EC0F5-FC9C-4D16-BE90-A22B4F74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906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En büyük katkı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CAB0F-3F0D-45FE-9326-0B65D1C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Dijital Ticaret</a:t>
            </a:r>
          </a:p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₺788.3M | 44.0% 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FBC17-1AD1-4C40-9F6C-11A80AFE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524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818F6-4F09-4CDB-A924-706449BA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90FCF-CC45-420B-9753-65BEA3F3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Büyüme mantığı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06DFA-6BD7-46B1-8C47-B451321F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Trafik/lead, dönüşüm, işlem adedi, ortalama satış fiyatı ve churn/refund sürücüleri iş birimi düzeyinde modellenir.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6FAC2-B022-4272-AB49-6DC6ACFE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3524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01C63-CD38-424A-9733-D3FB9E19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62980-4A87-48F5-9268-F5996528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624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Yönetim aksiyonu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E599F-A332-434C-9423-6A702CBE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Dijital ve abonelik kanallarındaki momentumu korurken perakende plan açığını kanal bazında kapat.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39AC5-1A88-4C9B-8E3D-380A7507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295001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9D994-476E-4B30-AA3E-EE22DFC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B5123-F6FB-4006-A660-5C3881FC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Maliyet Yapısı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87170-AD56-404E-9EDD-1EFB141D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Brüt marj ve operasyonel kaldıraç nerede oluşuyor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CCFC2-3E73-4DDA-8DB8-AC6E4F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336E4-1F61-41F7-AD51-DB1E0A2B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9DF5E-7A2A-4B03-B57B-CAC7F3AE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76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1e4e21bb604bf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21766-0A2E-47E4-88EC-FF187772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93A73-521E-41F0-93E3-20A70E48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013EB-9CDD-4D1F-B44D-BAEF7F1C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906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Brüt marj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4E8DD-14CF-40E3-A106-94EA6F1F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50.5%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E6488-5CB7-4A8E-889C-C05135FF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3524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77095-E8FB-47C1-AAD2-50FB4073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10FA0-123C-4837-9F74-383041F5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384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Faaliyet gideri / gelir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9F15C-E8B2-48D8-A19F-5F6D9D22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41.4%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28F58-4768-434C-BA55-10F8063E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3524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812F3-33E2-4831-8061-5353A27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1ADAE-E1A0-471D-AB02-E98B40AE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862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</a:defRPr>
            </a:pPr>
            <a:r>
              <a:rPr sz="1200" b="1">
                <a:solidFill>
                  <a:srgbClr val="16A34A"/>
                </a:solidFill>
              </a:rPr>
              <a:t>Kaldıraç fırsatı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E6C5E-9A35-4E2F-801D-A8D8EF4E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Bütçeye göre gider tasarrufu, gelir açığına rağmen EBITDA’nın plan üzerinde kalmasını sağlıyor.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5B6F8-E344-46DB-A113-15BF4630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240855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02541-9931-4C08-A1E3-FDD6D70A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3D154-24F4-4CAB-9516-395E34CB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H1 Gerçekleşen ve Bütçe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0B121-775D-42DB-A288-C24760BE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Gelir zayıflığı gider disipliniyle dengelendi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472EF-246F-417F-A9A6-9CF1E907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356F1-8FAA-42E6-A43A-76098825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61E18-F5FF-44A6-9633-04D73D04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71525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23900" y="1714500"/>
          <a:ext xmlns:a="http://schemas.openxmlformats.org/drawingml/2006/main" cx="7143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2cf3933a51452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3FA4B-E2BB-4153-8072-13F6334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3067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4CF12-D23E-4D17-8530-10352966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1CBF5-68E8-4E9E-8165-2D8028D4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906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Gelir sapması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EEAD7-7381-414E-AEEE-02EB9585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₺-13.2M | -1.6%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159E4-5D15-4D7F-A2B9-C4E2380E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3067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28AAD-4BB8-46A5-9A78-2D55DCCF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4553A-4B57-47C2-892E-528CFA86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813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</a:defRPr>
            </a:pPr>
            <a:r>
              <a:rPr sz="1200" b="1">
                <a:solidFill>
                  <a:srgbClr val="16A34A"/>
                </a:solidFill>
              </a:rPr>
              <a:t>EBITDA sapması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E361B-B6A1-413D-A863-68B0FE96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+₺5.1M | +9.9%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5E41F-9067-46E3-8B15-0405B3F8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3067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59AA8-E1EC-43F9-9B39-01456311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542FD-F895-4FD1-AFA4-8A549311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719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Okuma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48469-9D81-41A5-8CB1-CE5F6191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8630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H1 gelir açığına karşı ₺18,5M faaliyet gideri tasarrufu, EBITDA ve net kârı plan üzerinde tuttu.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C932E-FD77-47DE-AB7A-4AF6A438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672603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3403B8-568E-4699-92FC-C2963CC8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D5B0E-BF9C-4FAE-972F-C53E30C5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FY2026 Tahmin ve Bütçe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20C2E-9364-42B9-B7A0-430AB88D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Daha düşük gelir, daha güçlü EBITDA ve yüksek kapanış nakdi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E21F4-E7A0-47D0-951B-F2CB00C3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47FCF-B2F5-4047-B176-1F321EC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EA859-D6C6-4C6F-BFAF-C0C1597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BEB1E-49F7-4846-BD81-D6F8AE5B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Gösterge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4041F-37B7-42A3-B70A-765CF865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097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Tahmin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8F298-0134-440C-99B1-37D5DE3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097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Bütçe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398F3-A23C-4922-B249-865D8603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097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Sapma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B3306-A68F-4B24-AF7F-14C0BB8B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097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Durum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0F834-8FEC-4C6A-8328-6F8AC1FA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E16E0-B6A8-41A9-B248-1BBA1CBE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Gelir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AA1BB-1279-439C-BFE9-DBB628CD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574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₺1790.8M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48ADD-F1D3-483C-BF9A-63065735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₺1838.8M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88B7C-A71D-4DDE-9A2E-0F48B9B3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574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₺-48.0M (-2.6%)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F390C-B224-472A-AC79-E8340A80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574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Olumsuz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96739-393B-4C10-94C0-811716DE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10BB4-7E29-4295-BC5D-37C077D2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Brüt Kâr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1E2BB-66F8-41E9-8F3D-A5B8C5A9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5146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₺904.9M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62185-C9D0-46D8-9AA9-5281B392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₺942.2M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87D3A-5BC0-4AD9-80D6-53D72E7F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146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₺-37.3M (-4.0%)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633A6-D461-4BE9-865E-14735593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Olumsuz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4D2DD-09B8-4018-8CA4-C044AF6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270BE3-E968-4647-90C7-5828BA13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Faaliyet Gideri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C251B-47BC-49BA-A090-9825B693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718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₺740.5M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0EF252-B324-417B-9F9C-8C2CAE5E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₺783.4M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634037-7633-48E4-88E0-BA5B5BA4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9718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₺-42.9M (-5.5%)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B130B-F8C1-4B43-A4DF-97D652D7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Olumlu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A374B3-7E64-4624-8259-F8010DAE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E41AB-7991-4088-9EFA-E80D11C2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EBITDA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3B66A7-30EE-4756-80DB-855E87B0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290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₺164.4M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4479E7-8905-4D7D-A4E6-E07950A5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₺158.8M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0229B0-8B07-449F-8039-8CDA388E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290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+₺5.6M (3.5%)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C75DE7-CDB5-412E-B274-A413FD5C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Olumlu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8BECC2-D808-424D-8809-0E7AE4D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F42D47-5A06-4B40-8E85-F0E1A099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Net Kâr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D84861-7FC1-422C-A0C5-DC964D3F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862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₺107.4M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3E35D7-6FE2-44D3-B2F6-6D6529CC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862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₺103.2M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2FA80A-E478-4A75-8BB6-8C9D5BBC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862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+₺4.1M (4.0%)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A2962C-B14C-41B1-87DE-98B04A8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862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Olumlu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5A1B13-A21B-42FE-9FD0-AAB16E69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924050" cy="27432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130591-DF06-4A7B-8345-6E108D1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571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4D950B-A676-430E-BD2F-A0D48BA7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8592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Ana sonuç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512188-9146-4634-B374-25379E6C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5430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Gelir bütçenin ₺48.0M altında; EBITDA ise ₺5.6M üzerinde.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C7EFAE-7E90-4824-A889-D877783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0871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4D89EB-FA49-4A4C-BDC1-91A451B0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30FC72-88A1-4DE5-981F-7B123C9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Planlama kararı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875385-70D1-4A1B-9A9B-7873A8FF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Gelir açığı için ticari aksiyon planı oluştur; bütçe altındaki kontrollü opex seviyesini kör kesinti yerine verimlilik göstergeleriyle koru.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0F5FE3-89E8-4291-8F9E-A1EFC90B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400308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9783E1-0D33-435C-A3D6-BFD3201D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12795-4320-4725-89FC-7AEE5BBD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Rolling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4DD4C-8931-4703-9638-CB2BA525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Kapanan gerçekleşenler ile güncellenen ileri görünümün birleşimi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43487-D2C4-4FD9-8C34-E2D1E6C3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D4001-0ABB-4C8A-9046-AF6DDDC9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F411B-4600-4EA8-AF17-BADCF861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90575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23900" y="1714500"/>
          <a:ext xmlns:a="http://schemas.openxmlformats.org/drawingml/2006/main" cx="7334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9d244b96f945a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C8067-BF06-4A7A-BB8E-BF0CD56B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876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B2E3B-1C47-4810-AA55-F41FDD4D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B8FA9-935C-4D8C-BD86-CB0E299E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90675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Kapanan dönem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E67BA-F52C-43A8-BF35-CDEC5C48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Ocak–Haziran gerçekleşenleri forecast görünümüne sabitlenir.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F20F7-EB61-477D-9F31-AD8DC6AE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2876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9AF8D-13BC-4122-B34E-CE5E18F1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A27C8-E8AD-42DD-9332-ADF21F7C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62275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İleri dönem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D828E-5E29-4AA3-A2AB-DAD80E68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Temmuz 2026–Haziran 2027 iş sürücülerine göre yenilenir.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96945-0942-4FE8-8B8F-84A22D3D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8765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4D289-BD1C-4E78-B67A-19000EB4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FF8C7-8941-4F6E-9550-9F21A444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33875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Yönetişim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55775-1E75-4D2C-99A4-330E73C1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Aylık kapanış → sapma incelemesi → sürücü güncellemesi → model çalıştırma → yönetim onayı.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B1DF9-CD7F-46D4-A942-830227C9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7367909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4189A-A90A-44AC-AA48-A7E1D779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A5432-14A3-46B9-AEB5-7A914991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Tahmin Yönetişimi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0DB8A-EA49-4369-A594-5F89A15D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Model seçimi kanıta ve iş birimine göre yapılıyor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A8BB1-FEC1-47E2-9E1B-0863A2EB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55078-409C-4113-B684-EA19D6B4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BA0E9-A8AA-42B3-A54D-03D0D2AB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2111F-2832-4CCC-89A0-BB6BBED0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İş Birimi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B1EA8-4855-4AB9-AA12-F756B1C1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97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Şampiyon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9A74D-091E-4DAC-89E7-8E3002AA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972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D1063-D373-434F-B2E6-91DFA95B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972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Doğruluk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394C6-50D8-47EF-A31C-C1295A3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2BBF6-0FB9-4F74-83E7-063D9B8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Dijital Ticaret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BBB76-278C-4E6A-9492-ACA8CCDB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14550"/>
            <a:ext cx="2895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Linear Trend + Seasonality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B2AAE-47F2-4D52-98D5-52C26AB3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16C9B-8337-4E85-927D-AA42E82D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99.0%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1820C-12F0-4863-8D90-0848DC7D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7E288-3C6D-4BBE-82F3-64864B8F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Perakende Mağazalar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04DD8-9453-4F43-904A-7C92DD34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28900"/>
            <a:ext cx="2895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Linear Trend + Seasonality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BE3D9-A7DE-47C4-9193-EF8BEB40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2.8%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33119-CE78-45EB-B64E-10DE063A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97.2%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1E295-C6FC-4D86-B39E-0FDEA228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7C8C8-F17D-457A-90E1-2F1FD6BF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Abonelik Hizmetleri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C0D75-85D1-4556-9DEC-11A9A4A2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43250"/>
            <a:ext cx="2895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Log-Ridge Seasonal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B9AD37-396F-44A2-B08B-4C84CFCF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3.6%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79814E-F520-4BB8-9E6C-2F6633F4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96.4%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FE8BC-AF71-4E07-87F6-95353658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26DDAB-3737-4F67-B988-AE476C76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Toptan Satış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74651D-DE67-4AF1-AF33-147BD5AF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57600"/>
            <a:ext cx="2895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Log-Ridge Seasonal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C00106-D013-4D5E-954F-8D75BBB6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1.7%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777BC-C873-481D-8716-A339E75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576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98.3%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A6D2CB-2390-4E55-9F7A-05987B1F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924050" cy="25717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9DF64B-0248-420A-BEA4-D503929A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AD1EEE-5B8B-4CF4-A47D-4A7920C8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8592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Seçim kuralı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F11740-0954-47E8-95A9-5AF373AB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5430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MAE, RMSE, WAPE ve bias birlikte değerlendirilir; en düşük birleşik puan iş birimi şampiyonu olur.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CDC868-E8E8-4556-A2C4-9B32FF00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069AF1-8B2C-4C11-BD58-89F18F2C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A1D843-E9DE-4038-A054-89829862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ORTALAMA ŞAMPIYON WAPE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CA389A-8C48-493D-8FA3-3A2D1965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2.3%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1EE27A-F998-436B-9560-93831743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2990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 iş birimi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14A5D7-B937-4B2E-9A6B-5B9DFCEC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74485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BCA86A-17CA-4BCC-9614-006A6388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C50EBD-E55F-419C-8B37-3A90EF1B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38675"/>
            <a:ext cx="706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Model riski kontrolü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885E53-4DC1-4559-BA85-69306439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7067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Geri test sonuçları, model kartları, varsayım kayıtları ve aylık hata izleme sayesinde tek bir algoritmaya kör bağımlılık önlenir.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066E88-21D0-45F6-9011-14897267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4494239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C6219-0F34-43ED-A3FD-FB1EA456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03D07-3D11-402A-9018-09BCE716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Nakit ve Likidite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46ADE-CE9B-46CB-A59B-7AE8F3FF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Plan, operasyonel dönem boyunca likiditeyi koruyor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A80CC-24D4-437E-A659-A226FE49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F2EF8-C5C9-477E-9E1D-02F47A4D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B5A1-7838-437E-84FA-A52710D8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04850" y="1714500"/>
          <a:ext xmlns:a="http://schemas.openxmlformats.org/drawingml/2006/main" cx="676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6ed5434ece4c5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36664-501C-466D-91BF-72C49534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B5F61-E6DD-4D2D-A3D5-088D2AD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1861B-2F63-40B5-ADDE-F964B4D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FY2026 TAHMINI KAPANIŞ NAKDI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AE1CF-4D35-4907-89E2-81334526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₺233.2M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64113-BF05-4519-A047-F36583F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₺-14.4M bütçe sapması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D2C0F-BC6B-497C-9B74-4A94B7E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524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D4F73-C142-4B23-9252-C7B4AEA4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83E64-9A48-4AB7-AF56-D5CE5DF5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FY2026 MINIMUM NAKIT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EDD4B-8A6E-4D24-BB56-8205647B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₺223.9M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5716F-E44E-48D3-AA8B-77BC9374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pozitif likidite tamponu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EF623-BE08-475D-92EC-18E20937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5242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B725C-510B-4B24-BF7A-54EE2D3C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57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5BB77-DC3C-4647-98E6-77483548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Karar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E8ABA-4427-45CF-813D-A522E389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29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Büyüme yatırımlarını nakit tabanı ve senaryo eşikleriyle birlikte onayla.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C573E-753A-4AE3-B819-815722C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1144433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C6FCF1-84EB-42B0-BC43-FE2D8D83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57788-6716-4508-9781-DEDABD77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İşletme Sermayesi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797F3-9685-4A58-938C-AE6C27DA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Nakit dönüşüm döngüsü yönetilebilir bir değer kaynağıdır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6856E-D145-4430-989B-6DAD5F3B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4D275-52EC-4DE1-913D-DA1F4F87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A1ED9-16A7-4EA8-B3FF-A4CF5CEC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76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7f9198c72b443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26B0E-9E4E-4B18-8A52-149A4408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5A4CE-E6AE-4566-A090-853F057F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A6086-8FA9-42E7-8E04-95E11551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BAZ SENARYO CCC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41B82-CD3F-41D5-95CC-558E6111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</a:defRPr>
            </a:pPr>
            <a:r>
              <a:rPr sz="2025" b="1">
                <a:solidFill>
                  <a:srgbClr val="D97706"/>
                </a:solidFill>
              </a:rPr>
              <a:t>45.9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70A61-844D-41E7-920A-2413EE0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DSO + DIO − DPO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EB334-1382-479C-B38C-334B1943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524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EAC09-2E2B-4D57-928A-C9E49603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3A48C-495F-4233-8BD4-1F25A3E8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Değer kaldıraçları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B4362-BB71-4CCB-8385-1680F3EB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Tahsilat hızını artır • stok gününü azalt • tedarikçi vadelerini kontrollü optimize 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81A92-B0CE-4792-A4A8-B8E41AAE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3524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E988D-D32E-4124-A6F6-A42268A2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B4E22-7F04-4D3B-8A40-456DE9D5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Stres etkisi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94BE1-27B5-4A91-83C4-AB8DF236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14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CCC 77.8 güne çıkarken kapanış nakdi ₺115.9M seviyesine iner.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05445-21D4-4D93-8B6E-D8C7A091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18127876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A5A8D-8BCE-40BE-8C3C-3B1AEE5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929B0-080D-448B-AD63-B1368100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İş Gücü ve Yatırım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36A9D-4892-481D-8AFC-3AB69B06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Kadro ve capex stratejik önceliklere bağlanıyor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5D851-611D-485E-9CC6-0A8BF893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E6BF9-2F73-4A18-A873-74089555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0074F-94AF-43CB-8815-3096F770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3429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0E470-356B-417A-B8B2-80227DA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FBAE3-993F-4BCB-A883-B0A300F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KAPANIŞ FTE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9EA64-76DB-4089-B329-F4F6ED4A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231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2042B-5184-410E-8A83-CD7CFFEF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Aralık 2026 tahmini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AEF00-8275-4F4F-8BE7-8AA2BC0D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76375"/>
            <a:ext cx="3429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EAAD1-C81A-4B09-9633-DD341289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76375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B7979-D1D1-4C5C-9632-84DD0BBD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049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BORDRO + YAN HAKLAR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E2A3A-8021-4411-9EA1-043586C2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9072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₺313.9M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BC202-BB72-45C7-A2A2-9FD597BF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050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FY2026 tahmini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6D6D2-1EF6-48D9-9E7D-B2FF58FC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76375"/>
            <a:ext cx="3771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AC4F5-EB00-4619-8EBC-6183A941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76375"/>
            <a:ext cx="3771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F9AF3-4C55-4569-BAE3-EB678949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049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CAPEX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3E801-1923-4EB5-8C28-69CD28E0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907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9D8B"/>
                </a:solidFill>
              </a:defRPr>
            </a:pPr>
            <a:r>
              <a:rPr sz="2025" b="1">
                <a:solidFill>
                  <a:srgbClr val="0F9D8B"/>
                </a:solidFill>
              </a:rPr>
              <a:t>₺39.4M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AD409-2767-42DB-8C6F-B2C70A53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050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FY2026 yatırım harcaması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9AA3C-C8EB-4865-991B-D73D3814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68580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85800" y="3476625"/>
          <a:ext xmlns:a="http://schemas.openxmlformats.org/drawingml/2006/main" cx="63817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5908f64fcc49c0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43E4C-5AF4-4816-ABD3-CE397B9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39243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3CF93B-4A9E-4777-AF18-B736ACD9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57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0250A-001E-4FDB-A7B0-E52BA824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Yönetişim kuralı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789CC-67EB-4B91-9BD7-576636A6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35433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Yeni işe alım ve capex talepleri; gelir kapasitesi, verimlilik, nakit etkisi, stratejik uyum ve senaryo dayanıklılığı birlikte değerlendirilerek onaylanır.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92E14-BB4A-4C40-A8F2-984C970A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803246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467CA-80F3-4EA3-A16A-43CC240B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4574D-B3F0-4F9F-B4F7-83D00D5A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Senaryo Planlama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88014-266A-4418-AA96-8DEFB52F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Dört tutarlı vaka büyüme, marj ve nakit dengesini ölçüyor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DAF76-27AD-4B70-A476-04AEE289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C3964-FFBD-402A-82A3-21298F7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41F5F-29CD-4463-AA91-08674FBA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620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143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f720f96bda40a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6877F-0482-4163-B7A5-1CD67AC4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62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4266E-15D4-4498-9DE3-D8E82C5C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5D4BD-9072-4E11-9B1D-B4005612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5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BAZ EBITDA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FAB3D-6E6D-4CBA-B8A8-2F5C3C1E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₺164.4M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9433E-CD0A-4E4F-8491-80314E9A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9.2% marj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785D5-9204-4557-B53D-145C1C8B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162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9D79E-FDC8-49F5-9438-08B3D36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E870F-04B5-4CCF-8F4C-0548B278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STRES KAPANIŞ NAKDI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08428-D004-49F4-BEE3-4813C194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C2626"/>
                </a:solidFill>
              </a:defRPr>
            </a:pPr>
            <a:r>
              <a:rPr sz="2025" b="1">
                <a:solidFill>
                  <a:srgbClr val="DC2626"/>
                </a:solidFill>
              </a:rPr>
              <a:t>₺115.9M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6AE71-79C3-4FAA-80C2-3B031A53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77.8 gün CCC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98C9F-87BF-4D7C-96D6-72650389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31623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C84F5-EB82-4794-A166-A2F8DFA0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57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FD815-D0BC-4013-A004-0CC8BB7D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Tetikleyici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2A42B-47DC-4437-A709-0D3060E7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292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Gelir, brüt marj veya CCC eşikleri bozulduğunda maliyet, capex ve tahsilat aksiyonları devreye girer.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91C1C4-7AF7-40B4-924F-8EE7684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5062022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1EFA07-A421-4BFA-9590-4C9A904D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ENTEGRE FP&amp;A | YÖNETİCİ PLANLAMA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42918-B474-4DEE-B9F2-2D8F9F1A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Risk ve Belirsizlik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EBF70-3953-4933-9AE8-E6BEE980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Monte Carlo simülasyonu planın çevresindeki dağılımı gösteriyor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A548D-AF61-4FCB-BF81-0ABA4F69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BDB86-8623-44F2-89CD-2F092626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C07F0-7F52-4EC4-A356-BFBBDEE7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476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A9900-0C39-43AF-87E9-04095B23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67A9D-82C7-4D83-B07B-5D041578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GELIR P10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4B8FD-164B-40A8-8371-69106839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C2626"/>
                </a:solidFill>
              </a:defRPr>
            </a:pPr>
            <a:r>
              <a:rPr sz="2025" b="1">
                <a:solidFill>
                  <a:srgbClr val="DC2626"/>
                </a:solidFill>
              </a:rPr>
              <a:t>₺1.62B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EA71B-4D19-4E87-95FC-6B0BBD37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aşağı kuyruk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FCF78-98A9-4FBC-BB61-8ABAFB7E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428750"/>
            <a:ext cx="2476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E6063-07EA-4B9D-BF9B-301370B4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4287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45239-1112-40EB-B959-231A27CB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GELIR P50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7E18A-9DEC-4BE3-B810-847A2AE2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43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₺1.79B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BFFB1-96D3-44BD-BB89-70ACBDF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medyan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0BE19-1343-451B-A55A-CA666B22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28750"/>
            <a:ext cx="2476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731EE-9DA7-473A-A654-7003FF70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287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B94F2-E8E8-4F17-8172-18FCF30F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GELIR P90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C2AEB-DAE7-4D90-94D8-0AEF2B6C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₺1.96B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DBDFD-B387-4A41-B5E2-AB54C296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5745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yukarı kuyruk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09F31-EFAE-4796-9284-08408ECD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30861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0DEC1-C7E5-4DC0-8414-CD60D84A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3086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DA0482-D444-4E8D-9016-CEF65290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573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EBITDA BÜTÇE ALTI OLASILIĞI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6AA30-709C-41B2-854F-5CC75B00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</a:defRPr>
            </a:pPr>
            <a:r>
              <a:rPr sz="2025" b="1">
                <a:solidFill>
                  <a:srgbClr val="D97706"/>
                </a:solidFill>
              </a:rPr>
              <a:t>47.6%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71A1D-81F3-4AA9-A30C-1AD68601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5,000 Monte Carlo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A844C-C396-4A6B-838E-DC200A9D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486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0075E-A850-4CC2-A301-71B7519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0–30 Gün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F999B0-CD37-4706-8291-BE29D74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Veri sahipliğini ve aylık kapanış takvimini resmileştir.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43E24-15D6-43ED-81EC-C910D86F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486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1BE0A2-94AF-49F6-B673-A3B67FE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9D8B"/>
                </a:solidFill>
              </a:defRPr>
            </a:pPr>
            <a:r>
              <a:rPr sz="1050" b="1">
                <a:solidFill>
                  <a:srgbClr val="0F9D8B"/>
                </a:solidFill>
              </a:rPr>
              <a:t>31–60 Gün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7EB56F-692F-4E1C-A355-413D524C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Sürücü güncelleme, forecast geri test ve sapma oturumlarını işlet.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19A5AA-B8CA-42EF-B421-AD59AB63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3486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FDF89-77CE-402D-8BFA-56BBD23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61–90 Gün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4897DC-EFE4-4EF7-AD98-D0DBA97A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Senaryo tetikleyicileri ile otomatik yönetim aksiyonları oluştur.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384220-1038-4362-8C5F-D2CDAA92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Sentetik portföy verisi | TRY | 2023–2027 planlama dönemi</a:t>
            </a:r>
          </a:p>
        </p:txBody>
      </p:sp>
    </p:spTree>
    <p:extLst>
      <p:ext uri="{BB962C8B-B14F-4D97-AF65-F5344CB8AC3E}">
        <p14:creationId xmlns:p14="http://schemas.microsoft.com/office/powerpoint/2010/main" val="9226004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473C9-4955-468A-A1E2-B000023C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FF"/>
                </a:solidFill>
              </a:defRPr>
            </a:pPr>
            <a:r>
              <a:rPr sz="900" b="1">
                <a:solidFill>
                  <a:srgbClr val="8FD8FF"/>
                </a:solidFill>
              </a:rPr>
              <a:t>TEŞEKKÜRLER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B027E-8374-49CB-B185-0C771BAE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Performans, plan, nakit ve risk için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tek bağlantılı görünüm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3F43E-08F4-4F12-9DC2-1DB0B294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819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6F2"/>
                </a:solidFill>
              </a:defRPr>
            </a:pPr>
            <a:r>
              <a:rPr sz="1425" b="0">
                <a:solidFill>
                  <a:srgbClr val="D9E6F2"/>
                </a:solidFill>
              </a:rPr>
              <a:t>Finansal modelleme, istatistiksel tahminleme, iş zekâsı, veri mühendisliği ve yönetici iletişimini birleştiren portföy seviyesinde FP&amp;A sistemi.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E2157-240C-405B-8C9F-A604C583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Murat Miraç Gedik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F9291-25B3-4BC7-B1D5-47229679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D8FF"/>
                </a:solidFill>
              </a:defRPr>
            </a:pPr>
            <a:r>
              <a:rPr sz="1050" b="0">
                <a:solidFill>
                  <a:srgbClr val="8FD8FF"/>
                </a:solidFill>
              </a:rPr>
              <a:t>FP&amp;A • Forecasting • SQL • Python • Power BI • Excel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56857-6C49-42FA-A6AC-4F120C3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6D8"/>
                </a:solidFill>
              </a:defRPr>
            </a:pPr>
            <a:r>
              <a:rPr sz="750" b="0">
                <a:solidFill>
                  <a:srgbClr val="B8C6D8"/>
                </a:solidFill>
              </a:rPr>
              <a:t>Asteria Consumer Group | Sentetik portföy verisi | TRY | 2023–2027 planlama dönemi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7EE2C-8937-4CF6-93C7-F03CC1C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5737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551B5-52B9-4FB9-B110-C3BFDF5C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33625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PLAN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→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DECIDE</a:t>
            </a:r>
          </a:p>
        </p:txBody>
      </p:sp>
    </p:spTree>
    <p:extLst>
      <p:ext uri="{BB962C8B-B14F-4D97-AF65-F5344CB8AC3E}">
        <p14:creationId xmlns:p14="http://schemas.microsoft.com/office/powerpoint/2010/main" val="1735538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2026-07-26T20:41:42.0510000Z</dcterms:created>
  <dcterms:modified xsi:type="dcterms:W3CDTF">2026-07-26T20:41:42.0510000Z</dcterms:modified>
</coreProperties>
</file>